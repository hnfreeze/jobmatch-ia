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6.svg" ContentType="image/svg"/>
  <Override PartName="/ppt/media/image2.svg" ContentType="image/svg"/>
  <Override PartName="/ppt/media/image8.svg" ContentType="image/svg"/>
  <Override PartName="/ppt/media/image4.svg" ContentType="image/svg"/>
  <Override PartName="/ppt/media/image10.svg" ContentType="image/svg"/>
  <Override PartName="/ppt/media/image12.svg" ContentType="image/svg"/>
  <Override PartName="/ppt/media/image14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8288000" cy="10287000"/>
  <p:notesSz cx="10287000" cy="18288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tar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las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7202423-5A35-4274-9E9E-8F33E87A5E91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Buenas. Presento JobMatch IA, mi TFM del Máster de Desarrollo con IA: una plataforma de búsqueda de empleo que combina un agente supervisado con un matching explicable sobre ofertas reales. La app está desplegada y es usable.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D80643-D50A-414A-A0C1-8CE1508FEE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Este es el recorrido: empiezo por el problema y la solución, luego entro en las dos piezas clave — el agente y el matching explicable —, la arquitectura, las decisiones de IA responsable y coste, calidad y seguridad, y cierro con conclusiones.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0C745D-8565-49C0-91CA-9B77DF8107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punto de partida: buscar empleo tech es ruidoso. Las bolsas listan cientos de ofertas pero ninguna te dice con claridad si encajas. El resultado es mucho tiempo leyendo descripciones, aplicar donde no llegas e ignorar donde sí encajarías, y sin saber el porqué.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C27577-D30D-47E4-9689-AADA09E83D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JobMatch IA responde a ese ruido con tres piezas: un agente supervisado que interpreta lenguaje natural y ejecuta una máquina de estados con el usuario en control; un matching explicable que puntúa cada oferta con fortalezas, carencias y bloqueantes, sin caja negra; y ofertas reales de agregadores y tableros ATS ordenadas por relevancia.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4E9C57-5C90-4B87-BFF3-58A28ACA50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Seis funcionalidades principales: el agente de empleo con confirmación humana; el matching explicable con su ranking; mejora de CV orientada a ATS exportable a PDF; cartas de presentación personalizadas por oferta; entrevista con IA por voz en el navegador con feedback; y la gestión de candidaturas con favoritos, pipeline de estados y cumplimiento RGPD.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9BEA23-63EA-492D-8367-9B1B3E8315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agente no actúa solo: es una máquina de estados persistida, AgentRun. Recorre interpretar, buscar, filtrar, puntuar y explicar, y antes de guardar pide confirmación humana. Sólo hay UNA llamada a la IA, en la interpretación, validada con Pydantic y con fallback determinista. El resto reutiliza el motor de matching cacheado, así que el coste por oferta es cero. Todo está filtrado por user_id.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14FD25-C488-4126-B034-932DEF2563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matching combina señales heurísticas con extracción por IA, cacheada por oferta. Normaliza roles y usa un diccionario de sinónimos tecnológicos. Cada oferta lleva su explicación: fortalezas, carencias y bloqueantes. El motor está versionado y se evalúa offline. La puntuación cae en tres tramos: APLICA si es 73 o más, QUIZÁ desde 52, y NO ENCAJA por debajo de 52.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EBB8D3-68AF-48D9-BEC2-7D5D591FA1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arquitectura: un frontend en React desplegado en Vercel habla con un backend FastAPI en Render. El backend se apoya en PostgreSQL en Supabase, la API de Claude de Anthropic y las fuentes de empleo — Adzuna, JSearch y tableros ATS. Internamente sigue capas: router para auth y validación, service para la lógica e IA, y model para la base de datos. Las migraciones Alembic corren automáticamente al arrancar.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EE7C55-8340-4572-9EA8-94BE5F0B77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IA está bajo control de coste. Sólo una llamada de IA por búsqueda. La voz de la entrevista corre en el navegador, así que cuesta cero. Cacheamos prompts y aplicamos cuotas por usuario. Usamos Claude Haiku, económico, para la mayoría de tareas, y Sonnet sólo donde aporta. Si la IA falla hay fallback determinista, y registramos coste por llamada con límites diarios.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932F63-B8D5-4BB4-97F7-674924CF19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Calidad: 96 tests de backend con pytest más tests de frontend, CI/CD con GitHub Actions que corre tests, ruff y build, evaluación offline reproducible del motor, y arquitectura por capas con sistema de diseño unificado. Seguridad y RGPD: autenticación JWT con bcrypt y verificación por email, rate limiting, cabeceras de seguridad y anti prompt-injection, consultas filtradas por usuario contra IDOR, y consentimiento de analítica con export y borrado de datos.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92819A-08EB-4C5F-8AE0-B18A1FDA475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 cerrar: JobMatch IA es un producto real, desplegado y usable, no sólo un prototipo. Integra full-stack, IA aplicada con control de coste y un agente supervisado, con seguridad y privacidad RGPD de principio a fin. Los próximos pasos son sumar más fuentes de ofertas y métricas de uso del agente. Os dejo la demo y las credenciales. Gracias.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18E73D-3E47-4D7F-9446-B1F6E08FFA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jobmatch-ia-alpha.vercel.app/" TargetMode="External"/><Relationship Id="rId2" Type="http://schemas.openxmlformats.org/officeDocument/2006/relationships/hyperlink" Target="https://jobmatch-ia-alpha.vercel.app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9.png"/><Relationship Id="rId10" Type="http://schemas.openxmlformats.org/officeDocument/2006/relationships/image" Target="../media/image10.svg"/><Relationship Id="rId11" Type="http://schemas.openxmlformats.org/officeDocument/2006/relationships/image" Target="../media/image11.png"/><Relationship Id="rId12" Type="http://schemas.openxmlformats.org/officeDocument/2006/relationships/image" Target="../media/image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1047600" y="2710440"/>
            <a:ext cx="898308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289" strike="noStrike">
                <a:solidFill>
                  <a:srgbClr val="7E9BFF"/>
                </a:solidFill>
                <a:effectLst/>
                <a:uFillTx/>
                <a:latin typeface="Courier New"/>
                <a:ea typeface="Courier New"/>
              </a:rPr>
              <a:t>TRABAJO DE FIN DE MÁSTER · </a:t>
            </a:r>
            <a:r>
              <a:rPr lang="en-US" sz="1800" b="0" u="none" spc="289" strike="noStrike">
                <a:solidFill>
                  <a:srgbClr val="7E9BFF"/>
                </a:solidFill>
                <a:effectLst/>
                <a:uFillTx/>
                <a:latin typeface="Courier New"/>
                <a:ea typeface="Courier New"/>
              </a:rPr>
              <a:t>MÁSTER DE DESARROLLO CON IA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1047600" y="3700800"/>
            <a:ext cx="9593280" cy="10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100" b="1" u="none" spc="-162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JobMatch </a:t>
            </a:r>
            <a:r>
              <a:rPr lang="en-US" sz="8100" b="1" u="none" spc="-162" strike="noStrike">
                <a:solidFill>
                  <a:srgbClr val="7E9BFF"/>
                </a:solidFill>
                <a:effectLst/>
                <a:uFillTx/>
                <a:latin typeface="Arial"/>
                <a:ea typeface="Arial"/>
              </a:rPr>
              <a:t>IA</a:t>
            </a:r>
            <a:endParaRPr lang="es-ES" sz="8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1047600" y="5053320"/>
            <a:ext cx="7455960" cy="14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4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Búsqueda de empleo con IA: un agente supervisado y un matching explicable sobre ofertas reales.</a:t>
            </a:r>
            <a:endParaRPr lang="es-E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1047600" y="6976440"/>
            <a:ext cx="8721360" cy="9000"/>
          </a:xfrm>
          <a:prstGeom prst="rect">
            <a:avLst/>
          </a:prstGeom>
          <a:solidFill>
            <a:srgbClr val="2632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1047600" y="7271640"/>
            <a:ext cx="32238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2C2"/>
                </a:solidFill>
                <a:effectLst/>
                <a:uFillTx/>
                <a:latin typeface="Arial"/>
                <a:ea typeface="Arial"/>
              </a:rPr>
              <a:t>Autor </a:t>
            </a:r>
            <a:r>
              <a:rPr lang="en-US" sz="1800" b="1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Sergio García Sánchez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4359960" y="7281360"/>
            <a:ext cx="9000" cy="285480"/>
          </a:xfrm>
          <a:prstGeom prst="rect">
            <a:avLst/>
          </a:prstGeom>
          <a:solidFill>
            <a:srgbClr val="2632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>
            <a:hlinkClick r:id="rId1"/>
          </p:cNvPr>
          <p:cNvSpPr/>
          <p:nvPr/>
        </p:nvSpPr>
        <p:spPr>
          <a:xfrm>
            <a:off x="4750560" y="7271640"/>
            <a:ext cx="42242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sng" strike="noStrike">
                <a:solidFill>
                  <a:srgbClr val="7E9BFF"/>
                </a:solidFill>
                <a:effectLst/>
                <a:uFillTx/>
                <a:latin typeface="Courier New"/>
                <a:ea typeface="Courier New"/>
                <a:hlinkClick r:id="rId2"/>
              </a:rPr>
              <a:t>jobmatch-ia-alpha.vercel.app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10531440" y="2281320"/>
            <a:ext cx="6708600" cy="1780920"/>
          </a:xfrm>
          <a:prstGeom prst="roundRect">
            <a:avLst>
              <a:gd name="adj" fmla="val 8556"/>
            </a:avLst>
          </a:prstGeom>
          <a:solidFill>
            <a:srgbClr val="161F36"/>
          </a:solidFill>
          <a:ln w="9525">
            <a:solidFill>
              <a:srgbClr val="2632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10807560" y="2538360"/>
            <a:ext cx="67716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Backend Engineer · Python</a:t>
            </a:r>
            <a:endParaRPr lang="es-E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10807560" y="2890800"/>
            <a:ext cx="67716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2C2"/>
                </a:solidFill>
                <a:effectLst/>
                <a:uFillTx/>
                <a:latin typeface="Courier New"/>
                <a:ea typeface="Courier New"/>
              </a:rPr>
              <a:t>Globex · Remoto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10807560" y="3386160"/>
            <a:ext cx="1775160" cy="418680"/>
          </a:xfrm>
          <a:prstGeom prst="roundRect">
            <a:avLst>
              <a:gd name="adj" fmla="val 50000"/>
            </a:avLst>
          </a:prstGeom>
          <a:solidFill>
            <a:srgbClr val="4ED08A">
              <a:alpha val="1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10941120" y="3443400"/>
            <a:ext cx="1584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4ED08A"/>
                </a:solidFill>
                <a:effectLst/>
                <a:uFillTx/>
                <a:latin typeface="Courier New"/>
                <a:ea typeface="Courier New"/>
              </a:rPr>
              <a:t>APLICA · 88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12735360" y="3557520"/>
            <a:ext cx="4228200" cy="75960"/>
          </a:xfrm>
          <a:prstGeom prst="roundRect">
            <a:avLst>
              <a:gd name="adj" fmla="val 50000"/>
            </a:avLst>
          </a:prstGeom>
          <a:solidFill>
            <a:srgbClr val="0C13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8640" rIns="90000" bIns="864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12735360" y="3557520"/>
            <a:ext cx="3720600" cy="75960"/>
          </a:xfrm>
          <a:prstGeom prst="rect">
            <a:avLst/>
          </a:prstGeom>
          <a:solidFill>
            <a:srgbClr val="4ED0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10531440" y="4253040"/>
            <a:ext cx="6708600" cy="1780920"/>
          </a:xfrm>
          <a:prstGeom prst="roundRect">
            <a:avLst>
              <a:gd name="adj" fmla="val 8556"/>
            </a:avLst>
          </a:prstGeom>
          <a:solidFill>
            <a:srgbClr val="161F36"/>
          </a:solidFill>
          <a:ln w="9525">
            <a:solidFill>
              <a:srgbClr val="2632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10807560" y="4510080"/>
            <a:ext cx="67716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Data Engineer</a:t>
            </a:r>
            <a:endParaRPr lang="es-E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10807560" y="4862520"/>
            <a:ext cx="67716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2C2"/>
                </a:solidFill>
                <a:effectLst/>
                <a:uFillTx/>
                <a:latin typeface="Courier New"/>
                <a:ea typeface="Courier New"/>
              </a:rPr>
              <a:t>Initech · Híbrido Madrid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10807560" y="5357880"/>
            <a:ext cx="1638000" cy="418680"/>
          </a:xfrm>
          <a:prstGeom prst="roundRect">
            <a:avLst>
              <a:gd name="adj" fmla="val 50000"/>
            </a:avLst>
          </a:prstGeom>
          <a:solidFill>
            <a:srgbClr val="E8AE57">
              <a:alpha val="1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10941120" y="5415120"/>
            <a:ext cx="14475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8AE57"/>
                </a:solidFill>
                <a:effectLst/>
                <a:uFillTx/>
                <a:latin typeface="Courier New"/>
                <a:ea typeface="Courier New"/>
              </a:rPr>
              <a:t>QUIZÁ · 61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12598200" y="5529240"/>
            <a:ext cx="4365360" cy="75960"/>
          </a:xfrm>
          <a:prstGeom prst="roundRect">
            <a:avLst>
              <a:gd name="adj" fmla="val 50000"/>
            </a:avLst>
          </a:prstGeom>
          <a:solidFill>
            <a:srgbClr val="0C13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8640" rIns="90000" bIns="864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0"/>
          <p:cNvSpPr/>
          <p:nvPr/>
        </p:nvSpPr>
        <p:spPr>
          <a:xfrm>
            <a:off x="12598200" y="5529240"/>
            <a:ext cx="2662560" cy="75960"/>
          </a:xfrm>
          <a:prstGeom prst="rect">
            <a:avLst/>
          </a:prstGeom>
          <a:solidFill>
            <a:srgbClr val="E8AE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1"/>
          <p:cNvSpPr/>
          <p:nvPr/>
        </p:nvSpPr>
        <p:spPr>
          <a:xfrm>
            <a:off x="10531440" y="6224760"/>
            <a:ext cx="6708600" cy="1780920"/>
          </a:xfrm>
          <a:prstGeom prst="roundRect">
            <a:avLst>
              <a:gd name="adj" fmla="val 8556"/>
            </a:avLst>
          </a:prstGeom>
          <a:solidFill>
            <a:srgbClr val="161F36"/>
          </a:solidFill>
          <a:ln w="9525">
            <a:solidFill>
              <a:srgbClr val="2632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10807560" y="6481800"/>
            <a:ext cx="67716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Platform Engineer</a:t>
            </a:r>
            <a:endParaRPr lang="es-E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3"/>
          <p:cNvSpPr/>
          <p:nvPr/>
        </p:nvSpPr>
        <p:spPr>
          <a:xfrm>
            <a:off x="10807560" y="6834240"/>
            <a:ext cx="67716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2C2"/>
                </a:solidFill>
                <a:effectLst/>
                <a:uFillTx/>
                <a:latin typeface="Courier New"/>
                <a:ea typeface="Courier New"/>
              </a:rPr>
              <a:t>Umbrella · Remoto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4"/>
          <p:cNvSpPr/>
          <p:nvPr/>
        </p:nvSpPr>
        <p:spPr>
          <a:xfrm>
            <a:off x="10807560" y="7329600"/>
            <a:ext cx="1775160" cy="418680"/>
          </a:xfrm>
          <a:prstGeom prst="roundRect">
            <a:avLst>
              <a:gd name="adj" fmla="val 50000"/>
            </a:avLst>
          </a:prstGeom>
          <a:solidFill>
            <a:srgbClr val="4ED08A">
              <a:alpha val="1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10941120" y="7386480"/>
            <a:ext cx="1584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4ED08A"/>
                </a:solidFill>
                <a:effectLst/>
                <a:uFillTx/>
                <a:latin typeface="Courier New"/>
                <a:ea typeface="Courier New"/>
              </a:rPr>
              <a:t>APLICA · 79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12735360" y="7500960"/>
            <a:ext cx="4228200" cy="75960"/>
          </a:xfrm>
          <a:prstGeom prst="roundRect">
            <a:avLst>
              <a:gd name="adj" fmla="val 50000"/>
            </a:avLst>
          </a:prstGeom>
          <a:solidFill>
            <a:srgbClr val="0C13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8640" rIns="90000" bIns="864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7"/>
          <p:cNvSpPr/>
          <p:nvPr/>
        </p:nvSpPr>
        <p:spPr>
          <a:xfrm>
            <a:off x="12735360" y="7500960"/>
            <a:ext cx="3340080" cy="75960"/>
          </a:xfrm>
          <a:prstGeom prst="rect">
            <a:avLst/>
          </a:prstGeom>
          <a:solidFill>
            <a:srgbClr val="4ED0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1047600" y="800280"/>
            <a:ext cx="17811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289" strike="noStrike">
                <a:solidFill>
                  <a:srgbClr val="2F5BEA"/>
                </a:solidFill>
                <a:effectLst/>
                <a:uFillTx/>
                <a:latin typeface="Courier New"/>
                <a:ea typeface="Courier New"/>
              </a:rPr>
              <a:t>CONTENIDO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1047600" y="1276200"/>
            <a:ext cx="1781136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pc="-96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Índice</a:t>
            </a:r>
            <a:endParaRPr lang="es-E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"/>
          <p:cNvSpPr/>
          <p:nvPr/>
        </p:nvSpPr>
        <p:spPr>
          <a:xfrm>
            <a:off x="1047600" y="2562120"/>
            <a:ext cx="7619760" cy="9000"/>
          </a:xfrm>
          <a:prstGeom prst="rect">
            <a:avLst/>
          </a:prstGeom>
          <a:solidFill>
            <a:srgbClr val="E4DF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"/>
          <p:cNvSpPr/>
          <p:nvPr/>
        </p:nvSpPr>
        <p:spPr>
          <a:xfrm>
            <a:off x="1047600" y="3097440"/>
            <a:ext cx="4950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2F5BEA"/>
                </a:solidFill>
                <a:effectLst/>
                <a:uFillTx/>
                <a:latin typeface="Courier New"/>
                <a:ea typeface="Courier New"/>
              </a:rPr>
              <a:t>01</a:t>
            </a:r>
            <a:endParaRPr lang="es-E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4"/>
          <p:cNvSpPr/>
          <p:nvPr/>
        </p:nvSpPr>
        <p:spPr>
          <a:xfrm>
            <a:off x="1733400" y="3049920"/>
            <a:ext cx="196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El problema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5"/>
          <p:cNvSpPr/>
          <p:nvPr/>
        </p:nvSpPr>
        <p:spPr>
          <a:xfrm>
            <a:off x="1047600" y="3947040"/>
            <a:ext cx="7619760" cy="9000"/>
          </a:xfrm>
          <a:prstGeom prst="rect">
            <a:avLst/>
          </a:prstGeom>
          <a:solidFill>
            <a:srgbClr val="E4DF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1047600" y="4482360"/>
            <a:ext cx="4950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2F5BEA"/>
                </a:solidFill>
                <a:effectLst/>
                <a:uFillTx/>
                <a:latin typeface="Courier New"/>
                <a:ea typeface="Courier New"/>
              </a:rPr>
              <a:t>02</a:t>
            </a:r>
            <a:endParaRPr lang="es-E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7"/>
          <p:cNvSpPr/>
          <p:nvPr/>
        </p:nvSpPr>
        <p:spPr>
          <a:xfrm>
            <a:off x="1733400" y="4434840"/>
            <a:ext cx="1829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La solución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8"/>
          <p:cNvSpPr/>
          <p:nvPr/>
        </p:nvSpPr>
        <p:spPr>
          <a:xfrm>
            <a:off x="1047600" y="5331960"/>
            <a:ext cx="7619760" cy="9000"/>
          </a:xfrm>
          <a:prstGeom prst="rect">
            <a:avLst/>
          </a:prstGeom>
          <a:solidFill>
            <a:srgbClr val="E4DF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9"/>
          <p:cNvSpPr/>
          <p:nvPr/>
        </p:nvSpPr>
        <p:spPr>
          <a:xfrm>
            <a:off x="1047600" y="5867280"/>
            <a:ext cx="4950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2F5BEA"/>
                </a:solidFill>
                <a:effectLst/>
                <a:uFillTx/>
                <a:latin typeface="Courier New"/>
                <a:ea typeface="Courier New"/>
              </a:rPr>
              <a:t>03</a:t>
            </a:r>
            <a:endParaRPr lang="es-E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0"/>
          <p:cNvSpPr/>
          <p:nvPr/>
        </p:nvSpPr>
        <p:spPr>
          <a:xfrm>
            <a:off x="1733400" y="5819760"/>
            <a:ext cx="4562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Funcionalidades principales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1"/>
          <p:cNvSpPr/>
          <p:nvPr/>
        </p:nvSpPr>
        <p:spPr>
          <a:xfrm>
            <a:off x="1047600" y="6716880"/>
            <a:ext cx="7619760" cy="9000"/>
          </a:xfrm>
          <a:prstGeom prst="rect">
            <a:avLst/>
          </a:prstGeom>
          <a:solidFill>
            <a:srgbClr val="E4DF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2"/>
          <p:cNvSpPr/>
          <p:nvPr/>
        </p:nvSpPr>
        <p:spPr>
          <a:xfrm>
            <a:off x="1047600" y="7252200"/>
            <a:ext cx="4950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2F5BEA"/>
                </a:solidFill>
                <a:effectLst/>
                <a:uFillTx/>
                <a:latin typeface="Courier New"/>
                <a:ea typeface="Courier New"/>
              </a:rPr>
              <a:t>04</a:t>
            </a:r>
            <a:endParaRPr lang="es-E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3"/>
          <p:cNvSpPr/>
          <p:nvPr/>
        </p:nvSpPr>
        <p:spPr>
          <a:xfrm>
            <a:off x="1733400" y="7204680"/>
            <a:ext cx="3311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El agente de empleo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4"/>
          <p:cNvSpPr/>
          <p:nvPr/>
        </p:nvSpPr>
        <p:spPr>
          <a:xfrm>
            <a:off x="1047600" y="8101800"/>
            <a:ext cx="7619760" cy="9000"/>
          </a:xfrm>
          <a:prstGeom prst="rect">
            <a:avLst/>
          </a:prstGeom>
          <a:solidFill>
            <a:srgbClr val="E4DF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5"/>
          <p:cNvSpPr/>
          <p:nvPr/>
        </p:nvSpPr>
        <p:spPr>
          <a:xfrm>
            <a:off x="1047600" y="8637120"/>
            <a:ext cx="4950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2F5BEA"/>
                </a:solidFill>
                <a:effectLst/>
                <a:uFillTx/>
                <a:latin typeface="Courier New"/>
                <a:ea typeface="Courier New"/>
              </a:rPr>
              <a:t>05</a:t>
            </a:r>
            <a:endParaRPr lang="es-E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6"/>
          <p:cNvSpPr/>
          <p:nvPr/>
        </p:nvSpPr>
        <p:spPr>
          <a:xfrm>
            <a:off x="1733400" y="8589600"/>
            <a:ext cx="3253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Matching explicable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7"/>
          <p:cNvSpPr/>
          <p:nvPr/>
        </p:nvSpPr>
        <p:spPr>
          <a:xfrm>
            <a:off x="9620280" y="2562120"/>
            <a:ext cx="7619760" cy="9000"/>
          </a:xfrm>
          <a:prstGeom prst="rect">
            <a:avLst/>
          </a:prstGeom>
          <a:solidFill>
            <a:srgbClr val="E4DF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8"/>
          <p:cNvSpPr/>
          <p:nvPr/>
        </p:nvSpPr>
        <p:spPr>
          <a:xfrm>
            <a:off x="9620280" y="3097440"/>
            <a:ext cx="4950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2F5BEA"/>
                </a:solidFill>
                <a:effectLst/>
                <a:uFillTx/>
                <a:latin typeface="Courier New"/>
                <a:ea typeface="Courier New"/>
              </a:rPr>
              <a:t>06</a:t>
            </a:r>
            <a:endParaRPr lang="es-E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9"/>
          <p:cNvSpPr/>
          <p:nvPr/>
        </p:nvSpPr>
        <p:spPr>
          <a:xfrm>
            <a:off x="10306080" y="3049920"/>
            <a:ext cx="401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Arquitectura del sistema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0"/>
          <p:cNvSpPr/>
          <p:nvPr/>
        </p:nvSpPr>
        <p:spPr>
          <a:xfrm>
            <a:off x="9620280" y="3947040"/>
            <a:ext cx="7619760" cy="9000"/>
          </a:xfrm>
          <a:prstGeom prst="rect">
            <a:avLst/>
          </a:prstGeom>
          <a:solidFill>
            <a:srgbClr val="E4DF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1"/>
          <p:cNvSpPr/>
          <p:nvPr/>
        </p:nvSpPr>
        <p:spPr>
          <a:xfrm>
            <a:off x="9620280" y="4482360"/>
            <a:ext cx="4950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2F5BEA"/>
                </a:solidFill>
                <a:effectLst/>
                <a:uFillTx/>
                <a:latin typeface="Courier New"/>
                <a:ea typeface="Courier New"/>
              </a:rPr>
              <a:t>07</a:t>
            </a:r>
            <a:endParaRPr lang="es-E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2"/>
          <p:cNvSpPr/>
          <p:nvPr/>
        </p:nvSpPr>
        <p:spPr>
          <a:xfrm>
            <a:off x="10306080" y="4434840"/>
            <a:ext cx="3704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IA responsable y coste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3"/>
          <p:cNvSpPr/>
          <p:nvPr/>
        </p:nvSpPr>
        <p:spPr>
          <a:xfrm>
            <a:off x="9620280" y="5331960"/>
            <a:ext cx="7619760" cy="9000"/>
          </a:xfrm>
          <a:prstGeom prst="rect">
            <a:avLst/>
          </a:prstGeom>
          <a:solidFill>
            <a:srgbClr val="E4DF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4"/>
          <p:cNvSpPr/>
          <p:nvPr/>
        </p:nvSpPr>
        <p:spPr>
          <a:xfrm>
            <a:off x="9620280" y="5867280"/>
            <a:ext cx="4950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2F5BEA"/>
                </a:solidFill>
                <a:effectLst/>
                <a:uFillTx/>
                <a:latin typeface="Courier New"/>
                <a:ea typeface="Courier New"/>
              </a:rPr>
              <a:t>08</a:t>
            </a:r>
            <a:endParaRPr lang="es-E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5"/>
          <p:cNvSpPr/>
          <p:nvPr/>
        </p:nvSpPr>
        <p:spPr>
          <a:xfrm>
            <a:off x="10306080" y="5819760"/>
            <a:ext cx="320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Calidad y seguridad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6"/>
          <p:cNvSpPr/>
          <p:nvPr/>
        </p:nvSpPr>
        <p:spPr>
          <a:xfrm>
            <a:off x="9620280" y="8092440"/>
            <a:ext cx="7619760" cy="9000"/>
          </a:xfrm>
          <a:prstGeom prst="rect">
            <a:avLst/>
          </a:prstGeom>
          <a:solidFill>
            <a:srgbClr val="E4DF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7"/>
          <p:cNvSpPr/>
          <p:nvPr/>
        </p:nvSpPr>
        <p:spPr>
          <a:xfrm>
            <a:off x="9620280" y="6716880"/>
            <a:ext cx="7619760" cy="9000"/>
          </a:xfrm>
          <a:prstGeom prst="rect">
            <a:avLst/>
          </a:prstGeom>
          <a:solidFill>
            <a:srgbClr val="E4DF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8"/>
          <p:cNvSpPr/>
          <p:nvPr/>
        </p:nvSpPr>
        <p:spPr>
          <a:xfrm>
            <a:off x="9620280" y="7247520"/>
            <a:ext cx="4950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2F5BEA"/>
                </a:solidFill>
                <a:effectLst/>
                <a:uFillTx/>
                <a:latin typeface="Courier New"/>
                <a:ea typeface="Courier New"/>
              </a:rPr>
              <a:t>09</a:t>
            </a:r>
            <a:endParaRPr lang="es-E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9"/>
          <p:cNvSpPr/>
          <p:nvPr/>
        </p:nvSpPr>
        <p:spPr>
          <a:xfrm>
            <a:off x="10306080" y="7200000"/>
            <a:ext cx="217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Conclusiones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1047600" y="800280"/>
            <a:ext cx="17811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289" strike="noStrike">
                <a:solidFill>
                  <a:srgbClr val="2F5BEA"/>
                </a:solidFill>
                <a:effectLst/>
                <a:uFillTx/>
                <a:latin typeface="Courier New"/>
                <a:ea typeface="Courier New"/>
              </a:rPr>
              <a:t>01 · EL PROBLEMA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1047600" y="1295280"/>
            <a:ext cx="115250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pc="-96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Buscar empleo tech </a:t>
            </a:r>
            <a:r>
              <a:rPr lang="en-US" sz="4800" b="1" u="none" spc="-96" strike="noStrike">
                <a:solidFill>
                  <a:srgbClr val="D2483C"/>
                </a:solidFill>
                <a:effectLst/>
                <a:uFillTx/>
                <a:latin typeface="Arial"/>
                <a:ea typeface="Arial"/>
              </a:rPr>
              <a:t>es ruidoso</a:t>
            </a:r>
            <a:r>
              <a:rPr lang="en-US" sz="4800" b="1" u="none" spc="-96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s-E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"/>
          <p:cNvSpPr/>
          <p:nvPr/>
        </p:nvSpPr>
        <p:spPr>
          <a:xfrm>
            <a:off x="1047600" y="2733840"/>
            <a:ext cx="95040" cy="95040"/>
          </a:xfrm>
          <a:prstGeom prst="ellipse">
            <a:avLst/>
          </a:prstGeom>
          <a:solidFill>
            <a:srgbClr val="2F5B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2680" rIns="9000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"/>
          <p:cNvSpPr/>
          <p:nvPr/>
        </p:nvSpPr>
        <p:spPr>
          <a:xfrm>
            <a:off x="1371600" y="2600280"/>
            <a:ext cx="799416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Las bolsas de empleo muestran cientos de ofertas, pero </a:t>
            </a:r>
            <a:r>
              <a:rPr lang="en-US" sz="2100" b="1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ninguna explica con claridad </a:t>
            </a:r>
            <a:r>
              <a:rPr lang="en-US" sz="210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si encajan con tu perfil.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4"/>
          <p:cNvSpPr/>
          <p:nvPr/>
        </p:nvSpPr>
        <p:spPr>
          <a:xfrm>
            <a:off x="1047600" y="3838680"/>
            <a:ext cx="95040" cy="95040"/>
          </a:xfrm>
          <a:prstGeom prst="ellipse">
            <a:avLst/>
          </a:prstGeom>
          <a:solidFill>
            <a:srgbClr val="2F5B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2680" rIns="9000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1371600" y="3705120"/>
            <a:ext cx="75628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Lees decenas de descripciones para </a:t>
            </a:r>
            <a:r>
              <a:rPr lang="en-US" sz="2100" b="1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descartar la mayoría</a:t>
            </a:r>
            <a:r>
              <a:rPr lang="en-US" sz="210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6"/>
          <p:cNvSpPr/>
          <p:nvPr/>
        </p:nvSpPr>
        <p:spPr>
          <a:xfrm>
            <a:off x="1047600" y="4533840"/>
            <a:ext cx="95040" cy="95040"/>
          </a:xfrm>
          <a:prstGeom prst="ellipse">
            <a:avLst/>
          </a:prstGeom>
          <a:solidFill>
            <a:srgbClr val="2F5B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2680" rIns="9000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1371600" y="4400640"/>
            <a:ext cx="785772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Aplicas donde quizá no llegas e </a:t>
            </a:r>
            <a:r>
              <a:rPr lang="en-US" sz="2100" b="1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ignoras donde sí encajarías</a:t>
            </a:r>
            <a:r>
              <a:rPr lang="en-US" sz="210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8"/>
          <p:cNvSpPr/>
          <p:nvPr/>
        </p:nvSpPr>
        <p:spPr>
          <a:xfrm>
            <a:off x="1047600" y="5229360"/>
            <a:ext cx="95040" cy="95040"/>
          </a:xfrm>
          <a:prstGeom prst="ellipse">
            <a:avLst/>
          </a:prstGeom>
          <a:solidFill>
            <a:srgbClr val="2F5B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2680" rIns="9000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9"/>
          <p:cNvSpPr/>
          <p:nvPr/>
        </p:nvSpPr>
        <p:spPr>
          <a:xfrm>
            <a:off x="1371600" y="5095800"/>
            <a:ext cx="703044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Sin explicación del porqué: </a:t>
            </a:r>
            <a:r>
              <a:rPr lang="en-US" sz="2100" b="1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pierdes tiempo y contexto</a:t>
            </a:r>
            <a:r>
              <a:rPr lang="en-US" sz="210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0"/>
          <p:cNvSpPr/>
          <p:nvPr/>
        </p:nvSpPr>
        <p:spPr>
          <a:xfrm>
            <a:off x="9819360" y="2600280"/>
            <a:ext cx="7420680" cy="6886080"/>
          </a:xfrm>
          <a:prstGeom prst="roundRect">
            <a:avLst>
              <a:gd name="adj" fmla="val 2490"/>
            </a:avLst>
          </a:prstGeom>
          <a:solidFill>
            <a:srgbClr val="0C13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10295640" y="5064480"/>
            <a:ext cx="711504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60000"/>
              </a:lnSpc>
              <a:tabLst>
                <a:tab pos="0" algn="l"/>
              </a:tabLst>
            </a:pPr>
            <a:r>
              <a:rPr lang="en-US" sz="6000" b="0" u="none" strike="noStrike">
                <a:solidFill>
                  <a:srgbClr val="7E9BFF"/>
                </a:solidFill>
                <a:effectLst/>
                <a:uFillTx/>
                <a:latin typeface="Arial"/>
                <a:ea typeface="Arial"/>
              </a:rPr>
              <a:t>“</a:t>
            </a:r>
            <a:endParaRPr lang="es-E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2"/>
          <p:cNvSpPr/>
          <p:nvPr/>
        </p:nvSpPr>
        <p:spPr>
          <a:xfrm>
            <a:off x="10295640" y="5502600"/>
            <a:ext cx="6662160" cy="15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285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Cientos de ofertas revisadas a mano… para encontrar las pocas que de verdad encajan.</a:t>
            </a:r>
            <a:endParaRPr lang="es-E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1047600" y="800280"/>
            <a:ext cx="17811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289" strike="noStrike">
                <a:solidFill>
                  <a:srgbClr val="2F5BEA"/>
                </a:solidFill>
                <a:effectLst/>
                <a:uFillTx/>
                <a:latin typeface="Courier New"/>
                <a:ea typeface="Courier New"/>
              </a:rPr>
              <a:t>02 · LA SOLUCIÓN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1047600" y="1295280"/>
            <a:ext cx="1781136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pc="-96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La solución: JobMatch IA</a:t>
            </a:r>
            <a:endParaRPr lang="es-E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1047600" y="2314440"/>
            <a:ext cx="12557520" cy="98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6E7488"/>
                </a:solidFill>
                <a:effectLst/>
                <a:uFillTx/>
                <a:latin typeface="Arial"/>
                <a:ea typeface="Arial"/>
              </a:rPr>
              <a:t>Una plataforma que combina un </a:t>
            </a:r>
            <a:r>
              <a:rPr lang="en-US" sz="2550" b="1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agente supervisado </a:t>
            </a:r>
            <a:r>
              <a:rPr lang="en-US" sz="2550" b="0" u="none" strike="noStrike">
                <a:solidFill>
                  <a:srgbClr val="6E7488"/>
                </a:solidFill>
                <a:effectLst/>
                <a:uFillTx/>
                <a:latin typeface="Arial"/>
                <a:ea typeface="Arial"/>
              </a:rPr>
              <a:t>con un </a:t>
            </a:r>
            <a:r>
              <a:rPr lang="en-US" sz="2550" b="1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matching explicable </a:t>
            </a:r>
            <a:r>
              <a:rPr lang="en-US" sz="2550" b="0" u="none" strike="noStrike">
                <a:solidFill>
                  <a:srgbClr val="6E7488"/>
                </a:solidFill>
                <a:effectLst/>
                <a:uFillTx/>
                <a:latin typeface="Arial"/>
                <a:ea typeface="Arial"/>
              </a:rPr>
              <a:t>sobre ofertas reales y variadas.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3"/>
          <p:cNvSpPr/>
          <p:nvPr/>
        </p:nvSpPr>
        <p:spPr>
          <a:xfrm>
            <a:off x="1047600" y="3777480"/>
            <a:ext cx="5181120" cy="5708880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4"/>
          <p:cNvSpPr/>
          <p:nvPr/>
        </p:nvSpPr>
        <p:spPr>
          <a:xfrm>
            <a:off x="1047600" y="9477360"/>
            <a:ext cx="5181120" cy="9000"/>
          </a:xfrm>
          <a:prstGeom prst="rect">
            <a:avLst/>
          </a:prstGeom>
          <a:solidFill>
            <a:srgbClr val="E4DF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5"/>
          <p:cNvSpPr/>
          <p:nvPr/>
        </p:nvSpPr>
        <p:spPr>
          <a:xfrm>
            <a:off x="1047600" y="3777480"/>
            <a:ext cx="5181120" cy="37800"/>
          </a:xfrm>
          <a:prstGeom prst="rect">
            <a:avLst/>
          </a:prstGeom>
          <a:solidFill>
            <a:srgbClr val="2F5B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6"/>
          <p:cNvSpPr/>
          <p:nvPr/>
        </p:nvSpPr>
        <p:spPr>
          <a:xfrm>
            <a:off x="1047600" y="3777480"/>
            <a:ext cx="9000" cy="5708880"/>
          </a:xfrm>
          <a:prstGeom prst="rect">
            <a:avLst/>
          </a:prstGeom>
          <a:solidFill>
            <a:srgbClr val="E4DF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7"/>
          <p:cNvSpPr/>
          <p:nvPr/>
        </p:nvSpPr>
        <p:spPr>
          <a:xfrm>
            <a:off x="6219720" y="3777480"/>
            <a:ext cx="9000" cy="5708880"/>
          </a:xfrm>
          <a:prstGeom prst="rect">
            <a:avLst/>
          </a:prstGeom>
          <a:solidFill>
            <a:srgbClr val="E4DF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8"/>
          <p:cNvSpPr/>
          <p:nvPr/>
        </p:nvSpPr>
        <p:spPr>
          <a:xfrm>
            <a:off x="1438200" y="4234680"/>
            <a:ext cx="48402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2F5BEA"/>
                </a:solidFill>
                <a:effectLst/>
                <a:uFillTx/>
                <a:latin typeface="Courier New"/>
                <a:ea typeface="Courier New"/>
              </a:rPr>
              <a:t>01</a:t>
            </a:r>
            <a:endParaRPr lang="es-E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9"/>
          <p:cNvSpPr/>
          <p:nvPr/>
        </p:nvSpPr>
        <p:spPr>
          <a:xfrm>
            <a:off x="1438200" y="4730040"/>
            <a:ext cx="484020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pc="-31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Agente supervisado</a:t>
            </a:r>
            <a:endParaRPr lang="es-E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0"/>
          <p:cNvSpPr/>
          <p:nvPr/>
        </p:nvSpPr>
        <p:spPr>
          <a:xfrm>
            <a:off x="1438200" y="5406480"/>
            <a:ext cx="4532040" cy="16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6E7488"/>
                </a:solidFill>
                <a:effectLst/>
                <a:uFillTx/>
                <a:latin typeface="Arial"/>
                <a:ea typeface="Arial"/>
              </a:rPr>
              <a:t>Interpreta una instrucción en lenguaje natural y ejecuta una máquina de estados, con el usuario en control.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1"/>
          <p:cNvSpPr/>
          <p:nvPr/>
        </p:nvSpPr>
        <p:spPr>
          <a:xfrm>
            <a:off x="6553080" y="3777480"/>
            <a:ext cx="5181120" cy="5708880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2"/>
          <p:cNvSpPr/>
          <p:nvPr/>
        </p:nvSpPr>
        <p:spPr>
          <a:xfrm>
            <a:off x="6553080" y="9477360"/>
            <a:ext cx="5181120" cy="9000"/>
          </a:xfrm>
          <a:prstGeom prst="rect">
            <a:avLst/>
          </a:prstGeom>
          <a:solidFill>
            <a:srgbClr val="E4DF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3"/>
          <p:cNvSpPr/>
          <p:nvPr/>
        </p:nvSpPr>
        <p:spPr>
          <a:xfrm>
            <a:off x="6553080" y="3777480"/>
            <a:ext cx="5181120" cy="37800"/>
          </a:xfrm>
          <a:prstGeom prst="rect">
            <a:avLst/>
          </a:prstGeom>
          <a:solidFill>
            <a:srgbClr val="1E9E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4"/>
          <p:cNvSpPr/>
          <p:nvPr/>
        </p:nvSpPr>
        <p:spPr>
          <a:xfrm>
            <a:off x="6553080" y="3777480"/>
            <a:ext cx="9000" cy="5708880"/>
          </a:xfrm>
          <a:prstGeom prst="rect">
            <a:avLst/>
          </a:prstGeom>
          <a:solidFill>
            <a:srgbClr val="E4DF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5"/>
          <p:cNvSpPr/>
          <p:nvPr/>
        </p:nvSpPr>
        <p:spPr>
          <a:xfrm>
            <a:off x="11725200" y="3777480"/>
            <a:ext cx="9000" cy="5708880"/>
          </a:xfrm>
          <a:prstGeom prst="rect">
            <a:avLst/>
          </a:prstGeom>
          <a:solidFill>
            <a:srgbClr val="E4DF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6"/>
          <p:cNvSpPr/>
          <p:nvPr/>
        </p:nvSpPr>
        <p:spPr>
          <a:xfrm>
            <a:off x="6943680" y="4234680"/>
            <a:ext cx="48402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1E9E5A"/>
                </a:solidFill>
                <a:effectLst/>
                <a:uFillTx/>
                <a:latin typeface="Courier New"/>
                <a:ea typeface="Courier New"/>
              </a:rPr>
              <a:t>02</a:t>
            </a:r>
            <a:endParaRPr lang="es-E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7"/>
          <p:cNvSpPr/>
          <p:nvPr/>
        </p:nvSpPr>
        <p:spPr>
          <a:xfrm>
            <a:off x="6943680" y="4730040"/>
            <a:ext cx="484020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pc="-31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Matching explicable</a:t>
            </a:r>
            <a:endParaRPr lang="es-E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8"/>
          <p:cNvSpPr/>
          <p:nvPr/>
        </p:nvSpPr>
        <p:spPr>
          <a:xfrm>
            <a:off x="6943680" y="5406480"/>
            <a:ext cx="4532040" cy="16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6E7488"/>
                </a:solidFill>
                <a:effectLst/>
                <a:uFillTx/>
                <a:latin typeface="Arial"/>
                <a:ea typeface="Arial"/>
              </a:rPr>
              <a:t>Cada oferta se puntúa con una explicación entendible: fortalezas, carencias y bloqueantes. Sin caja negra.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9"/>
          <p:cNvSpPr/>
          <p:nvPr/>
        </p:nvSpPr>
        <p:spPr>
          <a:xfrm>
            <a:off x="12058560" y="3777480"/>
            <a:ext cx="5181120" cy="5708880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0"/>
          <p:cNvSpPr/>
          <p:nvPr/>
        </p:nvSpPr>
        <p:spPr>
          <a:xfrm>
            <a:off x="12058560" y="9477360"/>
            <a:ext cx="5181120" cy="9000"/>
          </a:xfrm>
          <a:prstGeom prst="rect">
            <a:avLst/>
          </a:prstGeom>
          <a:solidFill>
            <a:srgbClr val="E4DF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1"/>
          <p:cNvSpPr/>
          <p:nvPr/>
        </p:nvSpPr>
        <p:spPr>
          <a:xfrm>
            <a:off x="12058560" y="3777480"/>
            <a:ext cx="5181120" cy="37800"/>
          </a:xfrm>
          <a:prstGeom prst="rect">
            <a:avLst/>
          </a:prstGeom>
          <a:solidFill>
            <a:srgbClr val="D98A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2"/>
          <p:cNvSpPr/>
          <p:nvPr/>
        </p:nvSpPr>
        <p:spPr>
          <a:xfrm>
            <a:off x="12058560" y="3777480"/>
            <a:ext cx="9000" cy="5708880"/>
          </a:xfrm>
          <a:prstGeom prst="rect">
            <a:avLst/>
          </a:prstGeom>
          <a:solidFill>
            <a:srgbClr val="E4DF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3"/>
          <p:cNvSpPr/>
          <p:nvPr/>
        </p:nvSpPr>
        <p:spPr>
          <a:xfrm>
            <a:off x="17230680" y="3777480"/>
            <a:ext cx="9000" cy="5708880"/>
          </a:xfrm>
          <a:prstGeom prst="rect">
            <a:avLst/>
          </a:prstGeom>
          <a:solidFill>
            <a:srgbClr val="E4DF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4"/>
          <p:cNvSpPr/>
          <p:nvPr/>
        </p:nvSpPr>
        <p:spPr>
          <a:xfrm>
            <a:off x="12449160" y="4234680"/>
            <a:ext cx="48402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D98A22"/>
                </a:solidFill>
                <a:effectLst/>
                <a:uFillTx/>
                <a:latin typeface="Courier New"/>
                <a:ea typeface="Courier New"/>
              </a:rPr>
              <a:t>03</a:t>
            </a:r>
            <a:endParaRPr lang="es-E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5"/>
          <p:cNvSpPr/>
          <p:nvPr/>
        </p:nvSpPr>
        <p:spPr>
          <a:xfrm>
            <a:off x="12449160" y="4730040"/>
            <a:ext cx="484020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pc="-31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Ofertas reales</a:t>
            </a:r>
            <a:endParaRPr lang="es-E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6"/>
          <p:cNvSpPr/>
          <p:nvPr/>
        </p:nvSpPr>
        <p:spPr>
          <a:xfrm>
            <a:off x="12449160" y="5406480"/>
            <a:ext cx="4532040" cy="12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6E7488"/>
                </a:solidFill>
                <a:effectLst/>
                <a:uFillTx/>
                <a:latin typeface="Arial"/>
                <a:ea typeface="Arial"/>
              </a:rPr>
              <a:t>Agregadores (Adzuna, JSearch) y tableros ATS, ordenadas por relevancia al perfil.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>
          <a:xfrm>
            <a:off x="1047600" y="800280"/>
            <a:ext cx="17811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289" strike="noStrike">
                <a:solidFill>
                  <a:srgbClr val="2F5BEA"/>
                </a:solidFill>
                <a:effectLst/>
                <a:uFillTx/>
                <a:latin typeface="Courier New"/>
                <a:ea typeface="Courier New"/>
              </a:rPr>
              <a:t>03 · FUNCIONALIDADES PRINCIPALES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1047600" y="1295280"/>
            <a:ext cx="1781136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pc="-96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Funcionalidades principales</a:t>
            </a:r>
            <a:endParaRPr lang="es-E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"/>
          <p:cNvSpPr/>
          <p:nvPr/>
        </p:nvSpPr>
        <p:spPr>
          <a:xfrm>
            <a:off x="1047600" y="2543040"/>
            <a:ext cx="5206680" cy="33332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4DF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380960" y="289548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3"/>
          <p:cNvSpPr/>
          <p:nvPr/>
        </p:nvSpPr>
        <p:spPr>
          <a:xfrm>
            <a:off x="1380960" y="3486240"/>
            <a:ext cx="49939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Agente de empleo con IA</a:t>
            </a:r>
            <a:endParaRPr lang="es-E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4"/>
          <p:cNvSpPr/>
          <p:nvPr/>
        </p:nvSpPr>
        <p:spPr>
          <a:xfrm>
            <a:off x="1380960" y="3962520"/>
            <a:ext cx="467604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6E7488"/>
                </a:solidFill>
                <a:effectLst/>
                <a:uFillTx/>
                <a:latin typeface="Arial"/>
                <a:ea typeface="Arial"/>
              </a:rPr>
              <a:t>Búsqueda en lenguaje natural con confirmación humana.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5"/>
          <p:cNvSpPr/>
          <p:nvPr/>
        </p:nvSpPr>
        <p:spPr>
          <a:xfrm>
            <a:off x="6540480" y="2543040"/>
            <a:ext cx="5206680" cy="33332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4DF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873840" y="289548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6"/>
          <p:cNvSpPr/>
          <p:nvPr/>
        </p:nvSpPr>
        <p:spPr>
          <a:xfrm>
            <a:off x="6873840" y="3486240"/>
            <a:ext cx="49939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Matching explicable</a:t>
            </a:r>
            <a:endParaRPr lang="es-E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6873840" y="3962520"/>
            <a:ext cx="467604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6E7488"/>
                </a:solidFill>
                <a:effectLst/>
                <a:uFillTx/>
                <a:latin typeface="Arial"/>
                <a:ea typeface="Arial"/>
              </a:rPr>
              <a:t>Ranking </a:t>
            </a:r>
            <a:r>
              <a:rPr lang="en-US" sz="1800" b="1" u="none" strike="noStrike">
                <a:solidFill>
                  <a:srgbClr val="1E9E5A"/>
                </a:solidFill>
                <a:effectLst/>
                <a:uFillTx/>
                <a:latin typeface="Arial"/>
                <a:ea typeface="Arial"/>
              </a:rPr>
              <a:t>APLICA </a:t>
            </a:r>
            <a:r>
              <a:rPr lang="en-US" sz="1800" b="0" u="none" strike="noStrike">
                <a:solidFill>
                  <a:srgbClr val="6E7488"/>
                </a:solidFill>
                <a:effectLst/>
                <a:uFillTx/>
                <a:latin typeface="Arial"/>
                <a:ea typeface="Arial"/>
              </a:rPr>
              <a:t>/ </a:t>
            </a:r>
            <a:r>
              <a:rPr lang="en-US" sz="1800" b="1" u="none" strike="noStrike">
                <a:solidFill>
                  <a:srgbClr val="D98A22"/>
                </a:solidFill>
                <a:effectLst/>
                <a:uFillTx/>
                <a:latin typeface="Arial"/>
                <a:ea typeface="Arial"/>
              </a:rPr>
              <a:t>QUIZÁ </a:t>
            </a:r>
            <a:r>
              <a:rPr lang="en-US" sz="1800" b="0" u="none" strike="noStrike">
                <a:solidFill>
                  <a:srgbClr val="6E7488"/>
                </a:solidFill>
                <a:effectLst/>
                <a:uFillTx/>
                <a:latin typeface="Arial"/>
                <a:ea typeface="Arial"/>
              </a:rPr>
              <a:t>/ </a:t>
            </a:r>
            <a:r>
              <a:rPr lang="en-US" sz="1800" b="1" u="none" strike="noStrike">
                <a:solidFill>
                  <a:srgbClr val="D2483C"/>
                </a:solidFill>
                <a:effectLst/>
                <a:uFillTx/>
                <a:latin typeface="Arial"/>
                <a:ea typeface="Arial"/>
              </a:rPr>
              <a:t>NO ENCAJA </a:t>
            </a:r>
            <a:r>
              <a:rPr lang="en-US" sz="1800" b="0" u="none" strike="noStrike">
                <a:solidFill>
                  <a:srgbClr val="6E7488"/>
                </a:solidFill>
                <a:effectLst/>
                <a:uFillTx/>
                <a:latin typeface="Arial"/>
                <a:ea typeface="Arial"/>
              </a:rPr>
              <a:t>con motivos.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8"/>
          <p:cNvSpPr/>
          <p:nvPr/>
        </p:nvSpPr>
        <p:spPr>
          <a:xfrm>
            <a:off x="12033360" y="2543040"/>
            <a:ext cx="5206680" cy="33332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4DF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2366720" y="289548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9"/>
          <p:cNvSpPr/>
          <p:nvPr/>
        </p:nvSpPr>
        <p:spPr>
          <a:xfrm>
            <a:off x="12366720" y="3486240"/>
            <a:ext cx="49939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Mejora de CV (ATS)</a:t>
            </a:r>
            <a:endParaRPr lang="es-E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12366720" y="3962520"/>
            <a:ext cx="467604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6E7488"/>
                </a:solidFill>
                <a:effectLst/>
                <a:uFillTx/>
                <a:latin typeface="Arial"/>
                <a:ea typeface="Arial"/>
              </a:rPr>
              <a:t>Análisis y reescritura del CV, exportable a PDF.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1"/>
          <p:cNvSpPr/>
          <p:nvPr/>
        </p:nvSpPr>
        <p:spPr>
          <a:xfrm>
            <a:off x="1047600" y="6162840"/>
            <a:ext cx="5206680" cy="3323880"/>
          </a:xfrm>
          <a:prstGeom prst="roundRect">
            <a:avLst>
              <a:gd name="adj" fmla="val 4585"/>
            </a:avLst>
          </a:prstGeom>
          <a:solidFill>
            <a:srgbClr val="FFFFFF"/>
          </a:solidFill>
          <a:ln w="9525">
            <a:solidFill>
              <a:srgbClr val="E4DF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1380960" y="651528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12"/>
          <p:cNvSpPr/>
          <p:nvPr/>
        </p:nvSpPr>
        <p:spPr>
          <a:xfrm>
            <a:off x="1380960" y="7105680"/>
            <a:ext cx="49939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Cartas de presentación</a:t>
            </a:r>
            <a:endParaRPr lang="es-E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3"/>
          <p:cNvSpPr/>
          <p:nvPr/>
        </p:nvSpPr>
        <p:spPr>
          <a:xfrm>
            <a:off x="1380960" y="7581960"/>
            <a:ext cx="467604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6E7488"/>
                </a:solidFill>
                <a:effectLst/>
                <a:uFillTx/>
                <a:latin typeface="Arial"/>
                <a:ea typeface="Arial"/>
              </a:rPr>
              <a:t>Generadas con IA y personalizadas por oferta.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4"/>
          <p:cNvSpPr/>
          <p:nvPr/>
        </p:nvSpPr>
        <p:spPr>
          <a:xfrm>
            <a:off x="6540480" y="6162840"/>
            <a:ext cx="5206680" cy="3323880"/>
          </a:xfrm>
          <a:prstGeom prst="roundRect">
            <a:avLst>
              <a:gd name="adj" fmla="val 4585"/>
            </a:avLst>
          </a:prstGeom>
          <a:solidFill>
            <a:srgbClr val="FFFFFF"/>
          </a:solidFill>
          <a:ln w="9525">
            <a:solidFill>
              <a:srgbClr val="E4DF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6873840" y="651528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15"/>
          <p:cNvSpPr/>
          <p:nvPr/>
        </p:nvSpPr>
        <p:spPr>
          <a:xfrm>
            <a:off x="6873840" y="7105680"/>
            <a:ext cx="49939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Entrevista con IA</a:t>
            </a:r>
            <a:endParaRPr lang="es-E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6"/>
          <p:cNvSpPr/>
          <p:nvPr/>
        </p:nvSpPr>
        <p:spPr>
          <a:xfrm>
            <a:off x="6873840" y="7581960"/>
            <a:ext cx="467604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6E7488"/>
                </a:solidFill>
                <a:effectLst/>
                <a:uFillTx/>
                <a:latin typeface="Arial"/>
                <a:ea typeface="Arial"/>
              </a:rPr>
              <a:t>Conversación y voz en el navegador + feedback.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7"/>
          <p:cNvSpPr/>
          <p:nvPr/>
        </p:nvSpPr>
        <p:spPr>
          <a:xfrm>
            <a:off x="12033360" y="6162840"/>
            <a:ext cx="5206680" cy="3323880"/>
          </a:xfrm>
          <a:prstGeom prst="roundRect">
            <a:avLst>
              <a:gd name="adj" fmla="val 4585"/>
            </a:avLst>
          </a:prstGeom>
          <a:solidFill>
            <a:srgbClr val="FFFFFF"/>
          </a:solidFill>
          <a:ln w="9525">
            <a:solidFill>
              <a:srgbClr val="E4DF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Image 5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12366720" y="651528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 18"/>
          <p:cNvSpPr/>
          <p:nvPr/>
        </p:nvSpPr>
        <p:spPr>
          <a:xfrm>
            <a:off x="12366720" y="7105680"/>
            <a:ext cx="49939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Candidaturas y RGPD</a:t>
            </a:r>
            <a:endParaRPr lang="es-E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9"/>
          <p:cNvSpPr/>
          <p:nvPr/>
        </p:nvSpPr>
        <p:spPr>
          <a:xfrm>
            <a:off x="12366720" y="7581960"/>
            <a:ext cx="467604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6E7488"/>
                </a:solidFill>
                <a:effectLst/>
                <a:uFillTx/>
                <a:latin typeface="Arial"/>
                <a:ea typeface="Arial"/>
              </a:rPr>
              <a:t>Favoritos, pipeline de estados y export/borrado.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/>
          <p:nvPr/>
        </p:nvSpPr>
        <p:spPr>
          <a:xfrm>
            <a:off x="1047600" y="800280"/>
            <a:ext cx="17811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289" strike="noStrike">
                <a:solidFill>
                  <a:srgbClr val="7E9BFF"/>
                </a:solidFill>
                <a:effectLst/>
                <a:uFillTx/>
                <a:latin typeface="Courier New"/>
                <a:ea typeface="Courier New"/>
              </a:rPr>
              <a:t>04 · EL AGENTE DE EMPLEO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1047600" y="1276200"/>
            <a:ext cx="1781136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pc="-96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Orquestación supervisada</a:t>
            </a:r>
            <a:endParaRPr lang="es-E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"/>
          <p:cNvSpPr/>
          <p:nvPr/>
        </p:nvSpPr>
        <p:spPr>
          <a:xfrm>
            <a:off x="1047600" y="2219400"/>
            <a:ext cx="1383012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94A2C2"/>
                </a:solidFill>
                <a:effectLst/>
                <a:uFillTx/>
                <a:latin typeface="Arial"/>
                <a:ea typeface="Arial"/>
              </a:rPr>
              <a:t>No actúa solo: máquina de estados persistida </a:t>
            </a:r>
            <a:r>
              <a:rPr lang="en-US" sz="2100" b="0" u="none" strike="noStrike">
                <a:solidFill>
                  <a:srgbClr val="EAF0FF"/>
                </a:solidFill>
                <a:effectLst/>
                <a:uFillTx/>
                <a:latin typeface="Courier New"/>
                <a:ea typeface="Courier New"/>
              </a:rPr>
              <a:t>(AgentRun)</a:t>
            </a:r>
            <a:r>
              <a:rPr lang="en-US" sz="2100" b="0" u="none" strike="noStrike">
                <a:solidFill>
                  <a:srgbClr val="94A2C2"/>
                </a:solidFill>
                <a:effectLst/>
                <a:uFillTx/>
                <a:latin typeface="Arial"/>
                <a:ea typeface="Arial"/>
              </a:rPr>
              <a:t>, con el usuario al control.</a:t>
            </a:r>
            <a:endParaRPr lang="es-E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3"/>
          <p:cNvSpPr/>
          <p:nvPr/>
        </p:nvSpPr>
        <p:spPr>
          <a:xfrm>
            <a:off x="1047600" y="3025080"/>
            <a:ext cx="16192080" cy="1847520"/>
          </a:xfrm>
          <a:prstGeom prst="roundRect">
            <a:avLst>
              <a:gd name="adj" fmla="val 8247"/>
            </a:avLst>
          </a:prstGeom>
          <a:solidFill>
            <a:srgbClr val="161F36"/>
          </a:solidFill>
          <a:ln w="9525">
            <a:solidFill>
              <a:srgbClr val="2632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4"/>
          <p:cNvSpPr/>
          <p:nvPr/>
        </p:nvSpPr>
        <p:spPr>
          <a:xfrm>
            <a:off x="1380960" y="3377520"/>
            <a:ext cx="1056600" cy="590040"/>
          </a:xfrm>
          <a:prstGeom prst="roundRect">
            <a:avLst>
              <a:gd name="adj" fmla="val 16129"/>
            </a:avLst>
          </a:prstGeom>
          <a:solidFill>
            <a:srgbClr val="0C1322"/>
          </a:solidFill>
          <a:ln w="9525">
            <a:solidFill>
              <a:srgbClr val="2632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5"/>
          <p:cNvSpPr/>
          <p:nvPr/>
        </p:nvSpPr>
        <p:spPr>
          <a:xfrm>
            <a:off x="1542960" y="3520440"/>
            <a:ext cx="808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Creado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6"/>
          <p:cNvSpPr/>
          <p:nvPr/>
        </p:nvSpPr>
        <p:spPr>
          <a:xfrm>
            <a:off x="2818080" y="3520440"/>
            <a:ext cx="3045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2C2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7"/>
          <p:cNvSpPr/>
          <p:nvPr/>
        </p:nvSpPr>
        <p:spPr>
          <a:xfrm>
            <a:off x="3426480" y="3396600"/>
            <a:ext cx="1302120" cy="552240"/>
          </a:xfrm>
          <a:prstGeom prst="roundRect">
            <a:avLst>
              <a:gd name="adj" fmla="val 17241"/>
            </a:avLst>
          </a:prstGeom>
          <a:solidFill>
            <a:srgbClr val="2F5BEA">
              <a:alpha val="20000"/>
            </a:srgbClr>
          </a:solidFill>
          <a:ln w="9525">
            <a:solidFill>
              <a:srgbClr val="2F5B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8"/>
          <p:cNvSpPr/>
          <p:nvPr/>
        </p:nvSpPr>
        <p:spPr>
          <a:xfrm>
            <a:off x="3588480" y="3539520"/>
            <a:ext cx="1054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Interpreta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9"/>
          <p:cNvSpPr/>
          <p:nvPr/>
        </p:nvSpPr>
        <p:spPr>
          <a:xfrm>
            <a:off x="5109120" y="3520440"/>
            <a:ext cx="3045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2C2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0"/>
          <p:cNvSpPr/>
          <p:nvPr/>
        </p:nvSpPr>
        <p:spPr>
          <a:xfrm>
            <a:off x="5717520" y="3377520"/>
            <a:ext cx="951120" cy="590040"/>
          </a:xfrm>
          <a:prstGeom prst="roundRect">
            <a:avLst>
              <a:gd name="adj" fmla="val 16129"/>
            </a:avLst>
          </a:prstGeom>
          <a:solidFill>
            <a:srgbClr val="0C1322"/>
          </a:solidFill>
          <a:ln w="9525">
            <a:solidFill>
              <a:srgbClr val="2632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1"/>
          <p:cNvSpPr/>
          <p:nvPr/>
        </p:nvSpPr>
        <p:spPr>
          <a:xfrm>
            <a:off x="5879520" y="3520440"/>
            <a:ext cx="7034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Busca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2"/>
          <p:cNvSpPr/>
          <p:nvPr/>
        </p:nvSpPr>
        <p:spPr>
          <a:xfrm>
            <a:off x="7049160" y="3520440"/>
            <a:ext cx="3045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2C2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3"/>
          <p:cNvSpPr/>
          <p:nvPr/>
        </p:nvSpPr>
        <p:spPr>
          <a:xfrm>
            <a:off x="7657920" y="3377520"/>
            <a:ext cx="854640" cy="590040"/>
          </a:xfrm>
          <a:prstGeom prst="roundRect">
            <a:avLst>
              <a:gd name="adj" fmla="val 16129"/>
            </a:avLst>
          </a:prstGeom>
          <a:solidFill>
            <a:srgbClr val="0C1322"/>
          </a:solidFill>
          <a:ln w="9525">
            <a:solidFill>
              <a:srgbClr val="2632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4"/>
          <p:cNvSpPr/>
          <p:nvPr/>
        </p:nvSpPr>
        <p:spPr>
          <a:xfrm>
            <a:off x="7819560" y="3520440"/>
            <a:ext cx="6073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Filtra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5"/>
          <p:cNvSpPr/>
          <p:nvPr/>
        </p:nvSpPr>
        <p:spPr>
          <a:xfrm>
            <a:off x="8893080" y="3520440"/>
            <a:ext cx="3045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2C2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6"/>
          <p:cNvSpPr/>
          <p:nvPr/>
        </p:nvSpPr>
        <p:spPr>
          <a:xfrm>
            <a:off x="9501480" y="3377520"/>
            <a:ext cx="1054080" cy="590040"/>
          </a:xfrm>
          <a:prstGeom prst="roundRect">
            <a:avLst>
              <a:gd name="adj" fmla="val 16129"/>
            </a:avLst>
          </a:prstGeom>
          <a:solidFill>
            <a:srgbClr val="0C1322"/>
          </a:solidFill>
          <a:ln w="9525">
            <a:solidFill>
              <a:srgbClr val="2632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7"/>
          <p:cNvSpPr/>
          <p:nvPr/>
        </p:nvSpPr>
        <p:spPr>
          <a:xfrm>
            <a:off x="9663480" y="3520440"/>
            <a:ext cx="8064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Puntúa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8"/>
          <p:cNvSpPr/>
          <p:nvPr/>
        </p:nvSpPr>
        <p:spPr>
          <a:xfrm>
            <a:off x="10935720" y="3520440"/>
            <a:ext cx="3045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2C2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9"/>
          <p:cNvSpPr/>
          <p:nvPr/>
        </p:nvSpPr>
        <p:spPr>
          <a:xfrm>
            <a:off x="11544480" y="3377520"/>
            <a:ext cx="1061640" cy="590040"/>
          </a:xfrm>
          <a:prstGeom prst="roundRect">
            <a:avLst>
              <a:gd name="adj" fmla="val 16129"/>
            </a:avLst>
          </a:prstGeom>
          <a:solidFill>
            <a:srgbClr val="0C1322"/>
          </a:solidFill>
          <a:ln w="9525">
            <a:solidFill>
              <a:srgbClr val="2632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0"/>
          <p:cNvSpPr/>
          <p:nvPr/>
        </p:nvSpPr>
        <p:spPr>
          <a:xfrm>
            <a:off x="11706480" y="3520440"/>
            <a:ext cx="8139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Explica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1"/>
          <p:cNvSpPr/>
          <p:nvPr/>
        </p:nvSpPr>
        <p:spPr>
          <a:xfrm>
            <a:off x="12986640" y="3520440"/>
            <a:ext cx="3045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2C2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2"/>
          <p:cNvSpPr/>
          <p:nvPr/>
        </p:nvSpPr>
        <p:spPr>
          <a:xfrm>
            <a:off x="13595040" y="3396600"/>
            <a:ext cx="1251000" cy="552240"/>
          </a:xfrm>
          <a:prstGeom prst="roundRect">
            <a:avLst>
              <a:gd name="adj" fmla="val 17241"/>
            </a:avLst>
          </a:prstGeom>
          <a:solidFill>
            <a:srgbClr val="4ED08A">
              <a:alpha val="18000"/>
            </a:srgbClr>
          </a:solidFill>
          <a:ln w="9525">
            <a:solidFill>
              <a:srgbClr val="1E9E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3"/>
          <p:cNvSpPr/>
          <p:nvPr/>
        </p:nvSpPr>
        <p:spPr>
          <a:xfrm>
            <a:off x="13757040" y="3539520"/>
            <a:ext cx="1003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tIns="25560" r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Confirma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4"/>
          <p:cNvSpPr/>
          <p:nvPr/>
        </p:nvSpPr>
        <p:spPr>
          <a:xfrm>
            <a:off x="15226560" y="3520440"/>
            <a:ext cx="3045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2C2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5"/>
          <p:cNvSpPr/>
          <p:nvPr/>
        </p:nvSpPr>
        <p:spPr>
          <a:xfrm>
            <a:off x="15834960" y="3377520"/>
            <a:ext cx="1071360" cy="590040"/>
          </a:xfrm>
          <a:prstGeom prst="roundRect">
            <a:avLst>
              <a:gd name="adj" fmla="val 16129"/>
            </a:avLst>
          </a:prstGeom>
          <a:solidFill>
            <a:srgbClr val="0C1322"/>
          </a:solidFill>
          <a:ln w="9525">
            <a:solidFill>
              <a:srgbClr val="2632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6"/>
          <p:cNvSpPr/>
          <p:nvPr/>
        </p:nvSpPr>
        <p:spPr>
          <a:xfrm>
            <a:off x="15996960" y="3520440"/>
            <a:ext cx="8236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Guarda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7"/>
          <p:cNvSpPr/>
          <p:nvPr/>
        </p:nvSpPr>
        <p:spPr>
          <a:xfrm>
            <a:off x="1380960" y="4311000"/>
            <a:ext cx="114120" cy="114120"/>
          </a:xfrm>
          <a:prstGeom prst="roundRect">
            <a:avLst>
              <a:gd name="adj" fmla="val 25000"/>
            </a:avLst>
          </a:prstGeom>
          <a:solidFill>
            <a:srgbClr val="2F5B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8"/>
          <p:cNvSpPr/>
          <p:nvPr/>
        </p:nvSpPr>
        <p:spPr>
          <a:xfrm>
            <a:off x="1590840" y="4215600"/>
            <a:ext cx="42379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2C2"/>
                </a:solidFill>
                <a:effectLst/>
                <a:uFillTx/>
                <a:latin typeface="Courier New"/>
                <a:ea typeface="Courier New"/>
              </a:rPr>
              <a:t>Interpreta = 1 llamada a la IA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29"/>
          <p:cNvSpPr/>
          <p:nvPr/>
        </p:nvSpPr>
        <p:spPr>
          <a:xfrm>
            <a:off x="6067440" y="4311000"/>
            <a:ext cx="114120" cy="114120"/>
          </a:xfrm>
          <a:prstGeom prst="roundRect">
            <a:avLst>
              <a:gd name="adj" fmla="val 25000"/>
            </a:avLst>
          </a:prstGeom>
          <a:solidFill>
            <a:srgbClr val="4ED0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0"/>
          <p:cNvSpPr/>
          <p:nvPr/>
        </p:nvSpPr>
        <p:spPr>
          <a:xfrm>
            <a:off x="6276960" y="4215600"/>
            <a:ext cx="35316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2C2"/>
                </a:solidFill>
                <a:effectLst/>
                <a:uFillTx/>
                <a:latin typeface="Courier New"/>
                <a:ea typeface="Courier New"/>
              </a:rPr>
              <a:t>Confirma = control humano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31"/>
          <p:cNvSpPr/>
          <p:nvPr/>
        </p:nvSpPr>
        <p:spPr>
          <a:xfrm>
            <a:off x="1047600" y="5253840"/>
            <a:ext cx="3876480" cy="4232520"/>
          </a:xfrm>
          <a:prstGeom prst="roundRect">
            <a:avLst>
              <a:gd name="adj" fmla="val 3440"/>
            </a:avLst>
          </a:prstGeom>
          <a:solidFill>
            <a:srgbClr val="161F36"/>
          </a:solidFill>
          <a:ln w="9525">
            <a:solidFill>
              <a:srgbClr val="2632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2"/>
          <p:cNvSpPr/>
          <p:nvPr/>
        </p:nvSpPr>
        <p:spPr>
          <a:xfrm>
            <a:off x="1324080" y="5549040"/>
            <a:ext cx="36561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7E9BFF"/>
                </a:solidFill>
                <a:effectLst/>
                <a:uFillTx/>
                <a:latin typeface="Arial"/>
                <a:ea typeface="Arial"/>
              </a:rPr>
              <a:t>1 sola llamada a la IA</a:t>
            </a:r>
            <a:endParaRPr lang="es-E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3"/>
          <p:cNvSpPr/>
          <p:nvPr/>
        </p:nvSpPr>
        <p:spPr>
          <a:xfrm>
            <a:off x="1324080" y="6015960"/>
            <a:ext cx="3423600" cy="103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2C2"/>
                </a:solidFill>
                <a:effectLst/>
                <a:uFillTx/>
                <a:latin typeface="Arial"/>
                <a:ea typeface="Arial"/>
              </a:rPr>
              <a:t>Solo en la interpretación, validada con Pydantic y con fallback determinista si falla.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34"/>
          <p:cNvSpPr/>
          <p:nvPr/>
        </p:nvSpPr>
        <p:spPr>
          <a:xfrm>
            <a:off x="5153040" y="5253840"/>
            <a:ext cx="3876480" cy="4232520"/>
          </a:xfrm>
          <a:prstGeom prst="roundRect">
            <a:avLst>
              <a:gd name="adj" fmla="val 3440"/>
            </a:avLst>
          </a:prstGeom>
          <a:solidFill>
            <a:srgbClr val="161F36"/>
          </a:solidFill>
          <a:ln w="9525">
            <a:solidFill>
              <a:srgbClr val="2632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5"/>
          <p:cNvSpPr/>
          <p:nvPr/>
        </p:nvSpPr>
        <p:spPr>
          <a:xfrm>
            <a:off x="5429160" y="5549040"/>
            <a:ext cx="36561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7E9BFF"/>
                </a:solidFill>
                <a:effectLst/>
                <a:uFillTx/>
                <a:latin typeface="Arial"/>
                <a:ea typeface="Arial"/>
              </a:rPr>
              <a:t>Coste 0 por oferta</a:t>
            </a:r>
            <a:endParaRPr lang="es-E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6"/>
          <p:cNvSpPr/>
          <p:nvPr/>
        </p:nvSpPr>
        <p:spPr>
          <a:xfrm>
            <a:off x="5429160" y="6015960"/>
            <a:ext cx="3423600" cy="70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2C2"/>
                </a:solidFill>
                <a:effectLst/>
                <a:uFillTx/>
                <a:latin typeface="Arial"/>
                <a:ea typeface="Arial"/>
              </a:rPr>
              <a:t>El resto reutiliza el motor de matching ya cacheado.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37"/>
          <p:cNvSpPr/>
          <p:nvPr/>
        </p:nvSpPr>
        <p:spPr>
          <a:xfrm>
            <a:off x="9258480" y="5253840"/>
            <a:ext cx="3876480" cy="4232520"/>
          </a:xfrm>
          <a:prstGeom prst="roundRect">
            <a:avLst>
              <a:gd name="adj" fmla="val 3440"/>
            </a:avLst>
          </a:prstGeom>
          <a:solidFill>
            <a:srgbClr val="161F36"/>
          </a:solidFill>
          <a:ln w="9525">
            <a:solidFill>
              <a:srgbClr val="2632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8"/>
          <p:cNvSpPr/>
          <p:nvPr/>
        </p:nvSpPr>
        <p:spPr>
          <a:xfrm>
            <a:off x="9534600" y="5549040"/>
            <a:ext cx="36561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7E9BFF"/>
                </a:solidFill>
                <a:effectLst/>
                <a:uFillTx/>
                <a:latin typeface="Arial"/>
                <a:ea typeface="Arial"/>
              </a:rPr>
              <a:t>Human-in-the-loop</a:t>
            </a:r>
            <a:endParaRPr lang="es-E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9"/>
          <p:cNvSpPr/>
          <p:nvPr/>
        </p:nvSpPr>
        <p:spPr>
          <a:xfrm>
            <a:off x="9534600" y="6015960"/>
            <a:ext cx="3423600" cy="103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4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2C2"/>
                </a:solidFill>
                <a:effectLst/>
                <a:uFillTx/>
                <a:latin typeface="Arial"/>
                <a:ea typeface="Arial"/>
              </a:rPr>
              <a:t>El usuario confirma qué ofertas guardar; el agente no actúa solo.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40"/>
          <p:cNvSpPr/>
          <p:nvPr/>
        </p:nvSpPr>
        <p:spPr>
          <a:xfrm>
            <a:off x="13363560" y="5253840"/>
            <a:ext cx="3876480" cy="4232520"/>
          </a:xfrm>
          <a:prstGeom prst="roundRect">
            <a:avLst>
              <a:gd name="adj" fmla="val 3440"/>
            </a:avLst>
          </a:prstGeom>
          <a:solidFill>
            <a:srgbClr val="161F36"/>
          </a:solidFill>
          <a:ln w="9525">
            <a:solidFill>
              <a:srgbClr val="2632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1"/>
          <p:cNvSpPr/>
          <p:nvPr/>
        </p:nvSpPr>
        <p:spPr>
          <a:xfrm>
            <a:off x="13639680" y="5549040"/>
            <a:ext cx="36561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7E9BFF"/>
                </a:solidFill>
                <a:effectLst/>
                <a:uFillTx/>
                <a:latin typeface="Arial"/>
                <a:ea typeface="Arial"/>
              </a:rPr>
              <a:t>Seguro y trazable</a:t>
            </a:r>
            <a:endParaRPr lang="es-E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42"/>
          <p:cNvSpPr/>
          <p:nvPr/>
        </p:nvSpPr>
        <p:spPr>
          <a:xfrm>
            <a:off x="13639680" y="6015960"/>
            <a:ext cx="3423600" cy="103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4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2C2"/>
                </a:solidFill>
                <a:effectLst/>
                <a:uFillTx/>
                <a:latin typeface="Arial"/>
                <a:ea typeface="Arial"/>
              </a:rPr>
              <a:t>Estados persistidos y todo filtrado por </a:t>
            </a:r>
            <a:r>
              <a:rPr lang="en-US" sz="1800" b="0" u="none" strike="noStrike">
                <a:solidFill>
                  <a:srgbClr val="EAF0FF"/>
                </a:solidFill>
                <a:effectLst/>
                <a:uFillTx/>
                <a:latin typeface="Courier New"/>
                <a:ea typeface="Courier New"/>
              </a:rPr>
              <a:t>user_id </a:t>
            </a:r>
            <a:r>
              <a:rPr lang="en-US" sz="1800" b="0" u="none" strike="noStrike">
                <a:solidFill>
                  <a:srgbClr val="94A2C2"/>
                </a:solidFill>
                <a:effectLst/>
                <a:uFillTx/>
                <a:latin typeface="Arial"/>
                <a:ea typeface="Arial"/>
              </a:rPr>
              <a:t>(anti-IDOR).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1047600" y="800280"/>
            <a:ext cx="17811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289" strike="noStrike">
                <a:solidFill>
                  <a:srgbClr val="2F5BEA"/>
                </a:solidFill>
                <a:effectLst/>
                <a:uFillTx/>
                <a:latin typeface="Courier New"/>
                <a:ea typeface="Courier New"/>
              </a:rPr>
              <a:t>05 · MATCHING EXPLICABLE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1047600" y="1295280"/>
            <a:ext cx="1781136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pc="-96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Matching explicable</a:t>
            </a:r>
            <a:endParaRPr lang="es-E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"/>
          <p:cNvSpPr/>
          <p:nvPr/>
        </p:nvSpPr>
        <p:spPr>
          <a:xfrm>
            <a:off x="1047600" y="2543040"/>
            <a:ext cx="82317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6E7488"/>
                </a:solidFill>
                <a:effectLst/>
                <a:uFillTx/>
                <a:latin typeface="Arial"/>
                <a:ea typeface="Arial"/>
              </a:rPr>
              <a:t>Cómo funciona</a:t>
            </a:r>
            <a:endParaRPr lang="es-E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1047600" y="3191040"/>
            <a:ext cx="3502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F5BEA"/>
                </a:solidFill>
                <a:effectLst/>
                <a:uFillTx/>
                <a:latin typeface="Courier New"/>
                <a:ea typeface="Courier New"/>
              </a:rPr>
              <a:t>01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1512720" y="3171960"/>
            <a:ext cx="722916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Señales heurísticas + extracción por IA </a:t>
            </a:r>
            <a:r>
              <a:rPr lang="en-US" sz="2100" b="0" u="none" strike="noStrike">
                <a:solidFill>
                  <a:srgbClr val="6E7488"/>
                </a:solidFill>
                <a:effectLst/>
                <a:uFillTx/>
                <a:latin typeface="Arial"/>
                <a:ea typeface="Arial"/>
              </a:rPr>
              <a:t>(cacheada por oferta) </a:t>
            </a:r>
            <a:r>
              <a:rPr lang="en-US" sz="210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1047600" y="4257720"/>
            <a:ext cx="3502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F5BEA"/>
                </a:solidFill>
                <a:effectLst/>
                <a:uFillTx/>
                <a:latin typeface="Courier New"/>
                <a:ea typeface="Courier New"/>
              </a:rPr>
              <a:t>02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6"/>
          <p:cNvSpPr/>
          <p:nvPr/>
        </p:nvSpPr>
        <p:spPr>
          <a:xfrm>
            <a:off x="1512720" y="4238640"/>
            <a:ext cx="722916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Normalización de roles y diccionario de sinónimos tecnológicos.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7"/>
          <p:cNvSpPr/>
          <p:nvPr/>
        </p:nvSpPr>
        <p:spPr>
          <a:xfrm>
            <a:off x="1047600" y="5324400"/>
            <a:ext cx="3502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F5BEA"/>
                </a:solidFill>
                <a:effectLst/>
                <a:uFillTx/>
                <a:latin typeface="Courier New"/>
                <a:ea typeface="Courier New"/>
              </a:rPr>
              <a:t>03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8"/>
          <p:cNvSpPr/>
          <p:nvPr/>
        </p:nvSpPr>
        <p:spPr>
          <a:xfrm>
            <a:off x="1512720" y="5305320"/>
            <a:ext cx="769896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Explicación por oferta: </a:t>
            </a:r>
            <a:r>
              <a:rPr lang="en-US" sz="2100" b="1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fortalezas, carencias y bloqueantes</a:t>
            </a:r>
            <a:r>
              <a:rPr lang="en-US" sz="210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9"/>
          <p:cNvSpPr/>
          <p:nvPr/>
        </p:nvSpPr>
        <p:spPr>
          <a:xfrm>
            <a:off x="1047600" y="6000840"/>
            <a:ext cx="3502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F5BEA"/>
                </a:solidFill>
                <a:effectLst/>
                <a:uFillTx/>
                <a:latin typeface="Courier New"/>
                <a:ea typeface="Courier New"/>
              </a:rPr>
              <a:t>04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0"/>
          <p:cNvSpPr/>
          <p:nvPr/>
        </p:nvSpPr>
        <p:spPr>
          <a:xfrm>
            <a:off x="1512720" y="5981760"/>
            <a:ext cx="722916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Versionado del motor </a:t>
            </a:r>
            <a:r>
              <a:rPr lang="en-US" sz="1800" b="0" u="none" strike="noStrike">
                <a:solidFill>
                  <a:srgbClr val="1B2336"/>
                </a:solidFill>
                <a:effectLst/>
                <a:uFillTx/>
                <a:latin typeface="Courier New"/>
                <a:ea typeface="Courier New"/>
              </a:rPr>
              <a:t>(MATCH_ENGINE_VERSION) </a:t>
            </a:r>
            <a:r>
              <a:rPr lang="en-US" sz="210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y evaluación offline.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1"/>
          <p:cNvSpPr/>
          <p:nvPr/>
        </p:nvSpPr>
        <p:spPr>
          <a:xfrm>
            <a:off x="9217440" y="2543040"/>
            <a:ext cx="8022600" cy="694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9525">
            <a:solidFill>
              <a:srgbClr val="E4DF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2"/>
          <p:cNvSpPr/>
          <p:nvPr/>
        </p:nvSpPr>
        <p:spPr>
          <a:xfrm>
            <a:off x="9664920" y="4567320"/>
            <a:ext cx="2131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6E7488"/>
                </a:solidFill>
                <a:effectLst/>
                <a:uFillTx/>
                <a:latin typeface="Courier New"/>
                <a:ea typeface="Courier New"/>
              </a:rPr>
              <a:t>0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3"/>
          <p:cNvSpPr/>
          <p:nvPr/>
        </p:nvSpPr>
        <p:spPr>
          <a:xfrm>
            <a:off x="11812320" y="4567320"/>
            <a:ext cx="3502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6E7488"/>
                </a:solidFill>
                <a:effectLst/>
                <a:uFillTx/>
                <a:latin typeface="Courier New"/>
                <a:ea typeface="Courier New"/>
              </a:rPr>
              <a:t>52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4"/>
          <p:cNvSpPr/>
          <p:nvPr/>
        </p:nvSpPr>
        <p:spPr>
          <a:xfrm>
            <a:off x="14096880" y="4567320"/>
            <a:ext cx="3502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6E7488"/>
                </a:solidFill>
                <a:effectLst/>
                <a:uFillTx/>
                <a:latin typeface="Courier New"/>
                <a:ea typeface="Courier New"/>
              </a:rPr>
              <a:t>73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5"/>
          <p:cNvSpPr/>
          <p:nvPr/>
        </p:nvSpPr>
        <p:spPr>
          <a:xfrm>
            <a:off x="16381080" y="4567320"/>
            <a:ext cx="4874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6E7488"/>
                </a:solidFill>
                <a:effectLst/>
                <a:uFillTx/>
                <a:latin typeface="Courier New"/>
                <a:ea typeface="Courier New"/>
              </a:rPr>
              <a:t>100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6"/>
          <p:cNvSpPr/>
          <p:nvPr/>
        </p:nvSpPr>
        <p:spPr>
          <a:xfrm>
            <a:off x="9664920" y="4986360"/>
            <a:ext cx="3705840" cy="285480"/>
          </a:xfrm>
          <a:prstGeom prst="rect">
            <a:avLst/>
          </a:prstGeom>
          <a:solidFill>
            <a:srgbClr val="D24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7"/>
          <p:cNvSpPr/>
          <p:nvPr/>
        </p:nvSpPr>
        <p:spPr>
          <a:xfrm>
            <a:off x="13371480" y="4986360"/>
            <a:ext cx="1496520" cy="285480"/>
          </a:xfrm>
          <a:prstGeom prst="rect">
            <a:avLst/>
          </a:prstGeom>
          <a:solidFill>
            <a:srgbClr val="D98A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8"/>
          <p:cNvSpPr/>
          <p:nvPr/>
        </p:nvSpPr>
        <p:spPr>
          <a:xfrm>
            <a:off x="14868000" y="4986360"/>
            <a:ext cx="1923840" cy="285480"/>
          </a:xfrm>
          <a:prstGeom prst="rect">
            <a:avLst/>
          </a:prstGeom>
          <a:solidFill>
            <a:srgbClr val="1E9E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9"/>
          <p:cNvSpPr/>
          <p:nvPr/>
        </p:nvSpPr>
        <p:spPr>
          <a:xfrm>
            <a:off x="9664920" y="5386320"/>
            <a:ext cx="78400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6E7488"/>
                </a:solidFill>
                <a:effectLst/>
                <a:uFillTx/>
                <a:latin typeface="Courier New"/>
                <a:ea typeface="Courier New"/>
              </a:rPr>
              <a:t>Puntuación de match · 0–100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0"/>
          <p:cNvSpPr/>
          <p:nvPr/>
        </p:nvSpPr>
        <p:spPr>
          <a:xfrm>
            <a:off x="9664920" y="6148440"/>
            <a:ext cx="132840" cy="132840"/>
          </a:xfrm>
          <a:prstGeom prst="roundRect">
            <a:avLst>
              <a:gd name="adj" fmla="val 28571"/>
            </a:avLst>
          </a:prstGeom>
          <a:solidFill>
            <a:srgbClr val="1E9E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1"/>
          <p:cNvSpPr/>
          <p:nvPr/>
        </p:nvSpPr>
        <p:spPr>
          <a:xfrm>
            <a:off x="9969840" y="6033960"/>
            <a:ext cx="2199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1E9E5A"/>
                </a:solidFill>
                <a:effectLst/>
                <a:uFillTx/>
                <a:latin typeface="Arial"/>
                <a:ea typeface="Arial"/>
              </a:rPr>
              <a:t>APLICA</a:t>
            </a:r>
            <a:endParaRPr lang="es-E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2"/>
          <p:cNvSpPr/>
          <p:nvPr/>
        </p:nvSpPr>
        <p:spPr>
          <a:xfrm>
            <a:off x="12141720" y="6053040"/>
            <a:ext cx="658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1B2336"/>
                </a:solidFill>
                <a:effectLst/>
                <a:uFillTx/>
                <a:latin typeface="Courier New"/>
                <a:ea typeface="Courier New"/>
              </a:rPr>
              <a:t>≥ 73</a:t>
            </a:r>
            <a:endParaRPr lang="es-E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23"/>
          <p:cNvSpPr/>
          <p:nvPr/>
        </p:nvSpPr>
        <p:spPr>
          <a:xfrm>
            <a:off x="9664920" y="6681960"/>
            <a:ext cx="132840" cy="132840"/>
          </a:xfrm>
          <a:prstGeom prst="roundRect">
            <a:avLst>
              <a:gd name="adj" fmla="val 28571"/>
            </a:avLst>
          </a:prstGeom>
          <a:solidFill>
            <a:srgbClr val="D98A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4"/>
          <p:cNvSpPr/>
          <p:nvPr/>
        </p:nvSpPr>
        <p:spPr>
          <a:xfrm>
            <a:off x="9969840" y="6567480"/>
            <a:ext cx="2199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D98A22"/>
                </a:solidFill>
                <a:effectLst/>
                <a:uFillTx/>
                <a:latin typeface="Arial"/>
                <a:ea typeface="Arial"/>
              </a:rPr>
              <a:t>QUIZÁ</a:t>
            </a:r>
            <a:endParaRPr lang="es-E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5"/>
          <p:cNvSpPr/>
          <p:nvPr/>
        </p:nvSpPr>
        <p:spPr>
          <a:xfrm>
            <a:off x="12141720" y="6586560"/>
            <a:ext cx="658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1B2336"/>
                </a:solidFill>
                <a:effectLst/>
                <a:uFillTx/>
                <a:latin typeface="Courier New"/>
                <a:ea typeface="Courier New"/>
              </a:rPr>
              <a:t>≥ 52</a:t>
            </a:r>
            <a:endParaRPr lang="es-E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6"/>
          <p:cNvSpPr/>
          <p:nvPr/>
        </p:nvSpPr>
        <p:spPr>
          <a:xfrm>
            <a:off x="9664920" y="7215120"/>
            <a:ext cx="132840" cy="132840"/>
          </a:xfrm>
          <a:prstGeom prst="roundRect">
            <a:avLst>
              <a:gd name="adj" fmla="val 28571"/>
            </a:avLst>
          </a:prstGeom>
          <a:solidFill>
            <a:srgbClr val="D24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7"/>
          <p:cNvSpPr/>
          <p:nvPr/>
        </p:nvSpPr>
        <p:spPr>
          <a:xfrm>
            <a:off x="9969840" y="7101000"/>
            <a:ext cx="21999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D2483C"/>
                </a:solidFill>
                <a:effectLst/>
                <a:uFillTx/>
                <a:latin typeface="Arial"/>
                <a:ea typeface="Arial"/>
              </a:rPr>
              <a:t>NO ENCAJA</a:t>
            </a:r>
            <a:endParaRPr lang="es-E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8"/>
          <p:cNvSpPr/>
          <p:nvPr/>
        </p:nvSpPr>
        <p:spPr>
          <a:xfrm>
            <a:off x="12141720" y="7120080"/>
            <a:ext cx="6703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1B2336"/>
                </a:solidFill>
                <a:effectLst/>
                <a:uFillTx/>
                <a:latin typeface="Courier New"/>
                <a:ea typeface="Courier New"/>
              </a:rPr>
              <a:t>&lt; 52</a:t>
            </a:r>
            <a:endParaRPr lang="es-E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0"/>
          <p:cNvSpPr/>
          <p:nvPr/>
        </p:nvSpPr>
        <p:spPr>
          <a:xfrm>
            <a:off x="1047600" y="800280"/>
            <a:ext cx="17811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289" strike="noStrike">
                <a:solidFill>
                  <a:srgbClr val="2F5BEA"/>
                </a:solidFill>
                <a:effectLst/>
                <a:uFillTx/>
                <a:latin typeface="Courier New"/>
                <a:ea typeface="Courier New"/>
              </a:rPr>
              <a:t>06 · ARQUITECTURA DEL SISTEMA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"/>
          <p:cNvSpPr/>
          <p:nvPr/>
        </p:nvSpPr>
        <p:spPr>
          <a:xfrm>
            <a:off x="1047600" y="1295280"/>
            <a:ext cx="1781136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pc="-96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Arquitectura del sistema</a:t>
            </a:r>
            <a:endParaRPr lang="es-E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"/>
          <p:cNvSpPr/>
          <p:nvPr/>
        </p:nvSpPr>
        <p:spPr>
          <a:xfrm>
            <a:off x="1047600" y="2543040"/>
            <a:ext cx="4680000" cy="3552480"/>
          </a:xfrm>
          <a:prstGeom prst="roundRect">
            <a:avLst>
              <a:gd name="adj" fmla="val 4290"/>
            </a:avLst>
          </a:prstGeom>
          <a:solidFill>
            <a:srgbClr val="0C13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"/>
          <p:cNvSpPr/>
          <p:nvPr/>
        </p:nvSpPr>
        <p:spPr>
          <a:xfrm>
            <a:off x="1371600" y="3929040"/>
            <a:ext cx="44355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Frontend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4"/>
          <p:cNvSpPr/>
          <p:nvPr/>
        </p:nvSpPr>
        <p:spPr>
          <a:xfrm>
            <a:off x="1371600" y="4405320"/>
            <a:ext cx="44355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7E9BFF"/>
                </a:solidFill>
                <a:effectLst/>
                <a:uFillTx/>
                <a:latin typeface="Courier New"/>
                <a:ea typeface="Courier New"/>
              </a:rPr>
              <a:t>React · Vercel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5"/>
          <p:cNvSpPr/>
          <p:nvPr/>
        </p:nvSpPr>
        <p:spPr>
          <a:xfrm>
            <a:off x="6013800" y="2543040"/>
            <a:ext cx="399600" cy="359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6E7488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6"/>
          <p:cNvSpPr/>
          <p:nvPr/>
        </p:nvSpPr>
        <p:spPr>
          <a:xfrm>
            <a:off x="6623280" y="2543040"/>
            <a:ext cx="4680000" cy="3552480"/>
          </a:xfrm>
          <a:prstGeom prst="roundRect">
            <a:avLst>
              <a:gd name="adj" fmla="val 4290"/>
            </a:avLst>
          </a:prstGeom>
          <a:solidFill>
            <a:srgbClr val="2F5B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7"/>
          <p:cNvSpPr/>
          <p:nvPr/>
        </p:nvSpPr>
        <p:spPr>
          <a:xfrm>
            <a:off x="6947280" y="3929040"/>
            <a:ext cx="44355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Backend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8"/>
          <p:cNvSpPr/>
          <p:nvPr/>
        </p:nvSpPr>
        <p:spPr>
          <a:xfrm>
            <a:off x="6947280" y="4405320"/>
            <a:ext cx="44355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7E1FF"/>
                </a:solidFill>
                <a:effectLst/>
                <a:uFillTx/>
                <a:latin typeface="Courier New"/>
                <a:ea typeface="Courier New"/>
              </a:rPr>
              <a:t>FastAPI · Render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9"/>
          <p:cNvSpPr/>
          <p:nvPr/>
        </p:nvSpPr>
        <p:spPr>
          <a:xfrm>
            <a:off x="11589840" y="2543040"/>
            <a:ext cx="399600" cy="359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6E7488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0"/>
          <p:cNvSpPr/>
          <p:nvPr/>
        </p:nvSpPr>
        <p:spPr>
          <a:xfrm>
            <a:off x="12199320" y="2543040"/>
            <a:ext cx="5040720" cy="109512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4DF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1"/>
          <p:cNvSpPr/>
          <p:nvPr/>
        </p:nvSpPr>
        <p:spPr>
          <a:xfrm>
            <a:off x="12456360" y="2743200"/>
            <a:ext cx="497880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PostgreSQL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2"/>
          <p:cNvSpPr/>
          <p:nvPr/>
        </p:nvSpPr>
        <p:spPr>
          <a:xfrm>
            <a:off x="12456360" y="3133800"/>
            <a:ext cx="49788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6E7488"/>
                </a:solidFill>
                <a:effectLst/>
                <a:uFillTx/>
                <a:latin typeface="Courier New"/>
                <a:ea typeface="Courier New"/>
              </a:rPr>
              <a:t>Supabase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3"/>
          <p:cNvSpPr/>
          <p:nvPr/>
        </p:nvSpPr>
        <p:spPr>
          <a:xfrm>
            <a:off x="12199320" y="3772080"/>
            <a:ext cx="5040720" cy="109512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4DF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4"/>
          <p:cNvSpPr/>
          <p:nvPr/>
        </p:nvSpPr>
        <p:spPr>
          <a:xfrm>
            <a:off x="12456360" y="3971880"/>
            <a:ext cx="497880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Claude API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5"/>
          <p:cNvSpPr/>
          <p:nvPr/>
        </p:nvSpPr>
        <p:spPr>
          <a:xfrm>
            <a:off x="12456360" y="4362480"/>
            <a:ext cx="49788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6E7488"/>
                </a:solidFill>
                <a:effectLst/>
                <a:uFillTx/>
                <a:latin typeface="Courier New"/>
                <a:ea typeface="Courier New"/>
              </a:rPr>
              <a:t>Anthropic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6"/>
          <p:cNvSpPr/>
          <p:nvPr/>
        </p:nvSpPr>
        <p:spPr>
          <a:xfrm>
            <a:off x="12199320" y="5000760"/>
            <a:ext cx="5040720" cy="109512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4DF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7"/>
          <p:cNvSpPr/>
          <p:nvPr/>
        </p:nvSpPr>
        <p:spPr>
          <a:xfrm>
            <a:off x="12456360" y="5200560"/>
            <a:ext cx="497880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Fuentes empleo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8"/>
          <p:cNvSpPr/>
          <p:nvPr/>
        </p:nvSpPr>
        <p:spPr>
          <a:xfrm>
            <a:off x="12456360" y="5591160"/>
            <a:ext cx="49788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6E7488"/>
                </a:solidFill>
                <a:effectLst/>
                <a:uFillTx/>
                <a:latin typeface="Courier New"/>
                <a:ea typeface="Courier New"/>
              </a:rPr>
              <a:t>Adzuna · JSearch · ATS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9"/>
          <p:cNvSpPr/>
          <p:nvPr/>
        </p:nvSpPr>
        <p:spPr>
          <a:xfrm>
            <a:off x="1047600" y="6477120"/>
            <a:ext cx="16192080" cy="3009600"/>
          </a:xfrm>
          <a:prstGeom prst="roundRect">
            <a:avLst>
              <a:gd name="adj" fmla="val 5063"/>
            </a:avLst>
          </a:prstGeom>
          <a:solidFill>
            <a:srgbClr val="161F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0"/>
          <p:cNvSpPr/>
          <p:nvPr/>
        </p:nvSpPr>
        <p:spPr>
          <a:xfrm rot="10800000">
            <a:off x="1429200" y="7559280"/>
            <a:ext cx="380520" cy="88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 vert="eaVer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252" strike="noStrike">
                <a:solidFill>
                  <a:srgbClr val="94A2C2"/>
                </a:solidFill>
                <a:effectLst/>
                <a:uFillTx/>
                <a:latin typeface="Courier New"/>
                <a:ea typeface="Courier New"/>
              </a:rPr>
              <a:t>CAPAS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21"/>
          <p:cNvSpPr/>
          <p:nvPr/>
        </p:nvSpPr>
        <p:spPr>
          <a:xfrm>
            <a:off x="2114640" y="7315200"/>
            <a:ext cx="3364920" cy="1333080"/>
          </a:xfrm>
          <a:prstGeom prst="roundRect">
            <a:avLst>
              <a:gd name="adj" fmla="val 10000"/>
            </a:avLst>
          </a:prstGeom>
          <a:solidFill>
            <a:srgbClr val="0C1322"/>
          </a:solidFill>
          <a:ln w="9525">
            <a:solidFill>
              <a:srgbClr val="2632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2"/>
          <p:cNvSpPr/>
          <p:nvPr/>
        </p:nvSpPr>
        <p:spPr>
          <a:xfrm>
            <a:off x="2409840" y="7610400"/>
            <a:ext cx="30520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Router</a:t>
            </a:r>
            <a:endParaRPr lang="es-E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3"/>
          <p:cNvSpPr/>
          <p:nvPr/>
        </p:nvSpPr>
        <p:spPr>
          <a:xfrm>
            <a:off x="2409840" y="8048520"/>
            <a:ext cx="30520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2C2"/>
                </a:solidFill>
                <a:effectLst/>
                <a:uFillTx/>
                <a:latin typeface="Arial"/>
                <a:ea typeface="Arial"/>
              </a:rPr>
              <a:t>auth · validación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4"/>
          <p:cNvSpPr/>
          <p:nvPr/>
        </p:nvSpPr>
        <p:spPr>
          <a:xfrm>
            <a:off x="5689440" y="7796160"/>
            <a:ext cx="3614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7E9BFF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5"/>
          <p:cNvSpPr/>
          <p:nvPr/>
        </p:nvSpPr>
        <p:spPr>
          <a:xfrm>
            <a:off x="6184800" y="7315200"/>
            <a:ext cx="3365280" cy="1333080"/>
          </a:xfrm>
          <a:prstGeom prst="roundRect">
            <a:avLst>
              <a:gd name="adj" fmla="val 10000"/>
            </a:avLst>
          </a:prstGeom>
          <a:solidFill>
            <a:srgbClr val="0C1322"/>
          </a:solidFill>
          <a:ln w="9525">
            <a:solidFill>
              <a:srgbClr val="2632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6"/>
          <p:cNvSpPr/>
          <p:nvPr/>
        </p:nvSpPr>
        <p:spPr>
          <a:xfrm>
            <a:off x="6480000" y="7610400"/>
            <a:ext cx="30520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Service</a:t>
            </a:r>
            <a:endParaRPr lang="es-E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7"/>
          <p:cNvSpPr/>
          <p:nvPr/>
        </p:nvSpPr>
        <p:spPr>
          <a:xfrm>
            <a:off x="6480000" y="8048520"/>
            <a:ext cx="30520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2C2"/>
                </a:solidFill>
                <a:effectLst/>
                <a:uFillTx/>
                <a:latin typeface="Arial"/>
                <a:ea typeface="Arial"/>
              </a:rPr>
              <a:t>lógica + IA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8"/>
          <p:cNvSpPr/>
          <p:nvPr/>
        </p:nvSpPr>
        <p:spPr>
          <a:xfrm>
            <a:off x="9759960" y="7796160"/>
            <a:ext cx="3614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7E9BFF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9"/>
          <p:cNvSpPr/>
          <p:nvPr/>
        </p:nvSpPr>
        <p:spPr>
          <a:xfrm>
            <a:off x="10255320" y="7315200"/>
            <a:ext cx="3364920" cy="1333080"/>
          </a:xfrm>
          <a:prstGeom prst="roundRect">
            <a:avLst>
              <a:gd name="adj" fmla="val 10000"/>
            </a:avLst>
          </a:prstGeom>
          <a:solidFill>
            <a:srgbClr val="0C1322"/>
          </a:solidFill>
          <a:ln w="9525">
            <a:solidFill>
              <a:srgbClr val="2632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30"/>
          <p:cNvSpPr/>
          <p:nvPr/>
        </p:nvSpPr>
        <p:spPr>
          <a:xfrm>
            <a:off x="10550520" y="7610400"/>
            <a:ext cx="30520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Model</a:t>
            </a:r>
            <a:endParaRPr lang="es-E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31"/>
          <p:cNvSpPr/>
          <p:nvPr/>
        </p:nvSpPr>
        <p:spPr>
          <a:xfrm>
            <a:off x="10550520" y="8048520"/>
            <a:ext cx="30520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2C2"/>
                </a:solidFill>
                <a:effectLst/>
                <a:uFillTx/>
                <a:latin typeface="Arial"/>
                <a:ea typeface="Arial"/>
              </a:rPr>
              <a:t>base de datos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32"/>
          <p:cNvSpPr/>
          <p:nvPr/>
        </p:nvSpPr>
        <p:spPr>
          <a:xfrm>
            <a:off x="14001840" y="7650360"/>
            <a:ext cx="9000" cy="662400"/>
          </a:xfrm>
          <a:prstGeom prst="rect">
            <a:avLst/>
          </a:prstGeom>
          <a:solidFill>
            <a:srgbClr val="2632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33"/>
          <p:cNvSpPr/>
          <p:nvPr/>
        </p:nvSpPr>
        <p:spPr>
          <a:xfrm>
            <a:off x="14335200" y="7650360"/>
            <a:ext cx="2609640" cy="70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2C2"/>
                </a:solidFill>
                <a:effectLst/>
                <a:uFillTx/>
                <a:latin typeface="Arial"/>
                <a:ea typeface="Arial"/>
              </a:rPr>
              <a:t>Migraciones </a:t>
            </a:r>
            <a:r>
              <a:rPr lang="en-US" sz="1800" b="0" u="none" strike="noStrike">
                <a:solidFill>
                  <a:srgbClr val="EAF0FF"/>
                </a:solidFill>
                <a:effectLst/>
                <a:uFillTx/>
                <a:latin typeface="Courier New"/>
                <a:ea typeface="Courier New"/>
              </a:rPr>
              <a:t>Alembic </a:t>
            </a:r>
            <a:r>
              <a:rPr lang="en-US" sz="1800" b="0" u="none" strike="noStrike">
                <a:solidFill>
                  <a:srgbClr val="94A2C2"/>
                </a:solidFill>
                <a:effectLst/>
                <a:uFillTx/>
                <a:latin typeface="Arial"/>
                <a:ea typeface="Arial"/>
              </a:rPr>
              <a:t>automáticas al arrancar.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 0"/>
          <p:cNvSpPr/>
          <p:nvPr/>
        </p:nvSpPr>
        <p:spPr>
          <a:xfrm>
            <a:off x="1047600" y="800280"/>
            <a:ext cx="17811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289" strike="noStrike">
                <a:solidFill>
                  <a:srgbClr val="7E9BFF"/>
                </a:solidFill>
                <a:effectLst/>
                <a:uFillTx/>
                <a:latin typeface="Courier New"/>
                <a:ea typeface="Courier New"/>
              </a:rPr>
              <a:t>07 · IA RESPONSABLE Y CONTROL DE COSTE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"/>
          <p:cNvSpPr/>
          <p:nvPr/>
        </p:nvSpPr>
        <p:spPr>
          <a:xfrm>
            <a:off x="1047600" y="1276200"/>
            <a:ext cx="1781136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pc="-96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IA responsable y coste</a:t>
            </a:r>
            <a:endParaRPr lang="es-E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"/>
          <p:cNvSpPr/>
          <p:nvPr/>
        </p:nvSpPr>
        <p:spPr>
          <a:xfrm>
            <a:off x="1047600" y="2523960"/>
            <a:ext cx="5206680" cy="2883600"/>
          </a:xfrm>
          <a:prstGeom prst="roundRect">
            <a:avLst>
              <a:gd name="adj" fmla="val 5945"/>
            </a:avLst>
          </a:prstGeom>
          <a:solidFill>
            <a:srgbClr val="161F36"/>
          </a:solidFill>
          <a:ln w="9525">
            <a:solidFill>
              <a:srgbClr val="2632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"/>
          <p:cNvSpPr/>
          <p:nvPr/>
        </p:nvSpPr>
        <p:spPr>
          <a:xfrm>
            <a:off x="1438200" y="2933640"/>
            <a:ext cx="4867920" cy="12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4"/>
          <p:cNvSpPr/>
          <p:nvPr/>
        </p:nvSpPr>
        <p:spPr>
          <a:xfrm>
            <a:off x="1438200" y="4305240"/>
            <a:ext cx="4558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94A2C2"/>
                </a:solidFill>
                <a:effectLst/>
                <a:uFillTx/>
                <a:latin typeface="Arial"/>
                <a:ea typeface="Arial"/>
              </a:rPr>
              <a:t>llamada de IA por búsqueda</a:t>
            </a:r>
            <a:endParaRPr lang="es-E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5"/>
          <p:cNvSpPr/>
          <p:nvPr/>
        </p:nvSpPr>
        <p:spPr>
          <a:xfrm>
            <a:off x="6540480" y="2523960"/>
            <a:ext cx="5206680" cy="2883600"/>
          </a:xfrm>
          <a:prstGeom prst="roundRect">
            <a:avLst>
              <a:gd name="adj" fmla="val 5945"/>
            </a:avLst>
          </a:prstGeom>
          <a:solidFill>
            <a:srgbClr val="161F36"/>
          </a:solidFill>
          <a:ln w="9525">
            <a:solidFill>
              <a:srgbClr val="2632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6"/>
          <p:cNvSpPr/>
          <p:nvPr/>
        </p:nvSpPr>
        <p:spPr>
          <a:xfrm>
            <a:off x="6931080" y="2933640"/>
            <a:ext cx="4868280" cy="12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4ED08A"/>
                </a:solidFill>
                <a:effectLst/>
                <a:uFillTx/>
                <a:latin typeface="Arial"/>
                <a:ea typeface="Arial"/>
              </a:rPr>
              <a:t>0 €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7"/>
          <p:cNvSpPr/>
          <p:nvPr/>
        </p:nvSpPr>
        <p:spPr>
          <a:xfrm>
            <a:off x="6931080" y="4305240"/>
            <a:ext cx="4558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94A2C2"/>
                </a:solidFill>
                <a:effectLst/>
                <a:uFillTx/>
                <a:latin typeface="Arial"/>
                <a:ea typeface="Arial"/>
              </a:rPr>
              <a:t>voz de la entrevista (navegador)</a:t>
            </a:r>
            <a:endParaRPr lang="es-E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8"/>
          <p:cNvSpPr/>
          <p:nvPr/>
        </p:nvSpPr>
        <p:spPr>
          <a:xfrm>
            <a:off x="12033360" y="2523960"/>
            <a:ext cx="5206680" cy="2883600"/>
          </a:xfrm>
          <a:prstGeom prst="roundRect">
            <a:avLst>
              <a:gd name="adj" fmla="val 5945"/>
            </a:avLst>
          </a:prstGeom>
          <a:solidFill>
            <a:srgbClr val="161F36"/>
          </a:solidFill>
          <a:ln w="9525">
            <a:solidFill>
              <a:srgbClr val="2632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9"/>
          <p:cNvSpPr/>
          <p:nvPr/>
        </p:nvSpPr>
        <p:spPr>
          <a:xfrm>
            <a:off x="12423600" y="2933640"/>
            <a:ext cx="486828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300" b="1" u="none" strike="noStrike">
                <a:solidFill>
                  <a:srgbClr val="7E9BFF"/>
                </a:solidFill>
                <a:effectLst/>
                <a:uFillTx/>
                <a:latin typeface="Arial"/>
                <a:ea typeface="Arial"/>
              </a:rPr>
              <a:t>caché</a:t>
            </a:r>
            <a:endParaRPr lang="es-ES" sz="6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0"/>
          <p:cNvSpPr/>
          <p:nvPr/>
        </p:nvSpPr>
        <p:spPr>
          <a:xfrm>
            <a:off x="12423600" y="3886200"/>
            <a:ext cx="4558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94A2C2"/>
                </a:solidFill>
                <a:effectLst/>
                <a:uFillTx/>
                <a:latin typeface="Arial"/>
                <a:ea typeface="Arial"/>
              </a:rPr>
              <a:t>de prompts + cuotas por usuario</a:t>
            </a:r>
            <a:endParaRPr lang="es-E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1"/>
          <p:cNvSpPr/>
          <p:nvPr/>
        </p:nvSpPr>
        <p:spPr>
          <a:xfrm>
            <a:off x="1047600" y="6957000"/>
            <a:ext cx="95040" cy="95040"/>
          </a:xfrm>
          <a:prstGeom prst="ellipse">
            <a:avLst/>
          </a:prstGeom>
          <a:solidFill>
            <a:srgbClr val="7E9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2680" rIns="9000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2"/>
          <p:cNvSpPr/>
          <p:nvPr/>
        </p:nvSpPr>
        <p:spPr>
          <a:xfrm>
            <a:off x="1352520" y="6823800"/>
            <a:ext cx="1167012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Claude Haiku </a:t>
            </a:r>
            <a:r>
              <a:rPr lang="en-US" sz="210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para la mayoría de tareas (modelo económico) y </a:t>
            </a:r>
            <a:r>
              <a:rPr lang="en-US" sz="2100" b="1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Sonnet </a:t>
            </a:r>
            <a:r>
              <a:rPr lang="en-US" sz="210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solo donde aporta.</a:t>
            </a:r>
            <a:endParaRPr lang="es-E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3"/>
          <p:cNvSpPr/>
          <p:nvPr/>
        </p:nvSpPr>
        <p:spPr>
          <a:xfrm>
            <a:off x="1047600" y="7595280"/>
            <a:ext cx="95040" cy="95040"/>
          </a:xfrm>
          <a:prstGeom prst="ellipse">
            <a:avLst/>
          </a:prstGeom>
          <a:solidFill>
            <a:srgbClr val="7E9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2680" rIns="9000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4"/>
          <p:cNvSpPr/>
          <p:nvPr/>
        </p:nvSpPr>
        <p:spPr>
          <a:xfrm>
            <a:off x="1352520" y="7461720"/>
            <a:ext cx="1201716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Fallback determinista: </a:t>
            </a:r>
            <a:r>
              <a:rPr lang="en-US" sz="210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si la IA falla o devuelve datos inválidos, el sistema sigue funcionando.</a:t>
            </a:r>
            <a:endParaRPr lang="es-E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5"/>
          <p:cNvSpPr/>
          <p:nvPr/>
        </p:nvSpPr>
        <p:spPr>
          <a:xfrm>
            <a:off x="1047600" y="8233200"/>
            <a:ext cx="95040" cy="95040"/>
          </a:xfrm>
          <a:prstGeom prst="ellipse">
            <a:avLst/>
          </a:prstGeom>
          <a:solidFill>
            <a:srgbClr val="7E9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2680" rIns="9000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6"/>
          <p:cNvSpPr/>
          <p:nvPr/>
        </p:nvSpPr>
        <p:spPr>
          <a:xfrm>
            <a:off x="1352520" y="8100000"/>
            <a:ext cx="974160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Registro de coste por llamada y </a:t>
            </a:r>
            <a:r>
              <a:rPr lang="en-US" sz="2100" b="1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límites diarios </a:t>
            </a:r>
            <a:r>
              <a:rPr lang="en-US" sz="210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por usuario y tipo de acción.</a:t>
            </a:r>
            <a:endParaRPr lang="es-E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ext 0"/>
          <p:cNvSpPr/>
          <p:nvPr/>
        </p:nvSpPr>
        <p:spPr>
          <a:xfrm>
            <a:off x="1047600" y="800280"/>
            <a:ext cx="17811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289" strike="noStrike">
                <a:solidFill>
                  <a:srgbClr val="2F5BEA"/>
                </a:solidFill>
                <a:effectLst/>
                <a:uFillTx/>
                <a:latin typeface="Courier New"/>
                <a:ea typeface="Courier New"/>
              </a:rPr>
              <a:t>08 · CALIDAD Y SEGURIDAD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"/>
          <p:cNvSpPr/>
          <p:nvPr/>
        </p:nvSpPr>
        <p:spPr>
          <a:xfrm>
            <a:off x="1047600" y="1295280"/>
            <a:ext cx="1781136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pc="-96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Calidad y seguridad</a:t>
            </a:r>
            <a:endParaRPr lang="es-E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2"/>
          <p:cNvSpPr/>
          <p:nvPr/>
        </p:nvSpPr>
        <p:spPr>
          <a:xfrm>
            <a:off x="1047600" y="2543040"/>
            <a:ext cx="7943400" cy="694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9525">
            <a:solidFill>
              <a:srgbClr val="E4DF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"/>
          <p:cNvSpPr/>
          <p:nvPr/>
        </p:nvSpPr>
        <p:spPr>
          <a:xfrm>
            <a:off x="1457280" y="2971800"/>
            <a:ext cx="100836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0" b="1" u="none" strike="noStrike">
                <a:solidFill>
                  <a:srgbClr val="2F5BEA"/>
                </a:solidFill>
                <a:effectLst/>
                <a:uFillTx/>
                <a:latin typeface="Arial"/>
                <a:ea typeface="Arial"/>
              </a:rPr>
              <a:t>96</a:t>
            </a:r>
            <a:endParaRPr lang="es-E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4"/>
          <p:cNvSpPr/>
          <p:nvPr/>
        </p:nvSpPr>
        <p:spPr>
          <a:xfrm>
            <a:off x="2561040" y="3381480"/>
            <a:ext cx="13420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Calidad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5"/>
          <p:cNvSpPr/>
          <p:nvPr/>
        </p:nvSpPr>
        <p:spPr>
          <a:xfrm>
            <a:off x="1457280" y="3867120"/>
            <a:ext cx="78368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6E7488"/>
                </a:solidFill>
                <a:effectLst/>
                <a:uFillTx/>
                <a:latin typeface="Arial"/>
                <a:ea typeface="Arial"/>
              </a:rPr>
              <a:t>tests de backend (pytest)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6"/>
          <p:cNvSpPr/>
          <p:nvPr/>
        </p:nvSpPr>
        <p:spPr>
          <a:xfrm>
            <a:off x="1457280" y="4457880"/>
            <a:ext cx="7124400" cy="9000"/>
          </a:xfrm>
          <a:prstGeom prst="rect">
            <a:avLst/>
          </a:prstGeom>
          <a:solidFill>
            <a:srgbClr val="E4DF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7"/>
          <p:cNvSpPr/>
          <p:nvPr/>
        </p:nvSpPr>
        <p:spPr>
          <a:xfrm>
            <a:off x="1457280" y="4753080"/>
            <a:ext cx="7836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96 tests de backend (pytest) + tests de frontend.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8"/>
          <p:cNvSpPr/>
          <p:nvPr/>
        </p:nvSpPr>
        <p:spPr>
          <a:xfrm>
            <a:off x="1457280" y="5362560"/>
            <a:ext cx="783684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CI/CD con </a:t>
            </a:r>
            <a:r>
              <a:rPr lang="en-US" sz="2100" b="1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GitHub Actions </a:t>
            </a:r>
            <a:r>
              <a:rPr lang="en-US" sz="210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(tests, ruff, build).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9"/>
          <p:cNvSpPr/>
          <p:nvPr/>
        </p:nvSpPr>
        <p:spPr>
          <a:xfrm>
            <a:off x="1457280" y="5981760"/>
            <a:ext cx="7836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Evaluación offline reproducible del motor de matching.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0"/>
          <p:cNvSpPr/>
          <p:nvPr/>
        </p:nvSpPr>
        <p:spPr>
          <a:xfrm>
            <a:off x="1457280" y="6591240"/>
            <a:ext cx="7836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1B2336"/>
                </a:solidFill>
                <a:effectLst/>
                <a:uFillTx/>
                <a:latin typeface="Arial"/>
                <a:ea typeface="Arial"/>
              </a:rPr>
              <a:t>Arquitectura por capas y sistema de diseño unificado.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1"/>
          <p:cNvSpPr/>
          <p:nvPr/>
        </p:nvSpPr>
        <p:spPr>
          <a:xfrm>
            <a:off x="9315360" y="2543040"/>
            <a:ext cx="7924320" cy="6943320"/>
          </a:xfrm>
          <a:prstGeom prst="roundRect">
            <a:avLst>
              <a:gd name="adj" fmla="val 2469"/>
            </a:avLst>
          </a:prstGeom>
          <a:solidFill>
            <a:srgbClr val="0C13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2"/>
          <p:cNvSpPr/>
          <p:nvPr/>
        </p:nvSpPr>
        <p:spPr>
          <a:xfrm>
            <a:off x="9315360" y="2543040"/>
            <a:ext cx="7924320" cy="37800"/>
          </a:xfrm>
          <a:prstGeom prst="rect">
            <a:avLst/>
          </a:prstGeom>
          <a:solidFill>
            <a:srgbClr val="1E9E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0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715680" y="3000240"/>
            <a:ext cx="41868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" name="Text 13"/>
          <p:cNvSpPr/>
          <p:nvPr/>
        </p:nvSpPr>
        <p:spPr>
          <a:xfrm>
            <a:off x="10287000" y="3019320"/>
            <a:ext cx="31255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Seguridad y RGPD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4"/>
          <p:cNvSpPr/>
          <p:nvPr/>
        </p:nvSpPr>
        <p:spPr>
          <a:xfrm>
            <a:off x="9715680" y="3705120"/>
            <a:ext cx="7124400" cy="9000"/>
          </a:xfrm>
          <a:prstGeom prst="rect">
            <a:avLst/>
          </a:prstGeom>
          <a:solidFill>
            <a:srgbClr val="26324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5"/>
          <p:cNvSpPr/>
          <p:nvPr/>
        </p:nvSpPr>
        <p:spPr>
          <a:xfrm>
            <a:off x="9715680" y="4000680"/>
            <a:ext cx="783684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Autenticación </a:t>
            </a:r>
            <a:r>
              <a:rPr lang="en-US" sz="2100" b="1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JWT + bcrypt </a:t>
            </a:r>
            <a:r>
              <a:rPr lang="en-US" sz="210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y verificación por email.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6"/>
          <p:cNvSpPr/>
          <p:nvPr/>
        </p:nvSpPr>
        <p:spPr>
          <a:xfrm>
            <a:off x="9715680" y="4619520"/>
            <a:ext cx="733824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Rate limiting, cabeceras de seguridad y anti prompt-injection.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7"/>
          <p:cNvSpPr/>
          <p:nvPr/>
        </p:nvSpPr>
        <p:spPr>
          <a:xfrm>
            <a:off x="9715680" y="5629320"/>
            <a:ext cx="7836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Consultas filtradas por usuario (prevención de IDOR).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8"/>
          <p:cNvSpPr/>
          <p:nvPr/>
        </p:nvSpPr>
        <p:spPr>
          <a:xfrm>
            <a:off x="9715680" y="6238800"/>
            <a:ext cx="78368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Consentimiento de analítica + export y borrado de datos.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 0"/>
          <p:cNvSpPr/>
          <p:nvPr/>
        </p:nvSpPr>
        <p:spPr>
          <a:xfrm>
            <a:off x="1047600" y="800280"/>
            <a:ext cx="17811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pc="289" strike="noStrike">
                <a:solidFill>
                  <a:srgbClr val="7E9BFF"/>
                </a:solidFill>
                <a:effectLst/>
                <a:uFillTx/>
                <a:latin typeface="Courier New"/>
                <a:ea typeface="Courier New"/>
              </a:rPr>
              <a:t>09 · CONCLUSIONES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"/>
          <p:cNvSpPr/>
          <p:nvPr/>
        </p:nvSpPr>
        <p:spPr>
          <a:xfrm>
            <a:off x="1047600" y="1276200"/>
            <a:ext cx="1781136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pc="-96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Conclusiones</a:t>
            </a:r>
            <a:endParaRPr lang="es-E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"/>
          <p:cNvSpPr/>
          <p:nvPr/>
        </p:nvSpPr>
        <p:spPr>
          <a:xfrm>
            <a:off x="1047600" y="2428920"/>
            <a:ext cx="7981560" cy="1317600"/>
          </a:xfrm>
          <a:prstGeom prst="roundRect">
            <a:avLst>
              <a:gd name="adj" fmla="val 10117"/>
            </a:avLst>
          </a:prstGeom>
          <a:solidFill>
            <a:srgbClr val="161F36"/>
          </a:solidFill>
          <a:ln w="9525">
            <a:solidFill>
              <a:srgbClr val="2632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"/>
          <p:cNvSpPr/>
          <p:nvPr/>
        </p:nvSpPr>
        <p:spPr>
          <a:xfrm>
            <a:off x="1362240" y="2762280"/>
            <a:ext cx="3502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7E9BFF"/>
                </a:solidFill>
                <a:effectLst/>
                <a:uFillTx/>
                <a:latin typeface="Courier New"/>
                <a:ea typeface="Courier New"/>
              </a:rPr>
              <a:t>01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4"/>
          <p:cNvSpPr/>
          <p:nvPr/>
        </p:nvSpPr>
        <p:spPr>
          <a:xfrm>
            <a:off x="1827000" y="2724120"/>
            <a:ext cx="7094520" cy="76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5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Un producto </a:t>
            </a:r>
            <a:r>
              <a:rPr lang="en-US" sz="1950" b="1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real, desplegado y usable </a:t>
            </a:r>
            <a:r>
              <a:rPr lang="en-US" sz="195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, no solo un prototipo académico.</a:t>
            </a:r>
            <a:endParaRPr lang="es-E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5"/>
          <p:cNvSpPr/>
          <p:nvPr/>
        </p:nvSpPr>
        <p:spPr>
          <a:xfrm>
            <a:off x="9258480" y="2428920"/>
            <a:ext cx="7981560" cy="1317600"/>
          </a:xfrm>
          <a:prstGeom prst="roundRect">
            <a:avLst>
              <a:gd name="adj" fmla="val 10117"/>
            </a:avLst>
          </a:prstGeom>
          <a:solidFill>
            <a:srgbClr val="161F36"/>
          </a:solidFill>
          <a:ln w="9525">
            <a:solidFill>
              <a:srgbClr val="2632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6"/>
          <p:cNvSpPr/>
          <p:nvPr/>
        </p:nvSpPr>
        <p:spPr>
          <a:xfrm>
            <a:off x="9572760" y="2762280"/>
            <a:ext cx="3502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7E9BFF"/>
                </a:solidFill>
                <a:effectLst/>
                <a:uFillTx/>
                <a:latin typeface="Courier New"/>
                <a:ea typeface="Courier New"/>
              </a:rPr>
              <a:t>02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7"/>
          <p:cNvSpPr/>
          <p:nvPr/>
        </p:nvSpPr>
        <p:spPr>
          <a:xfrm>
            <a:off x="10037520" y="2724120"/>
            <a:ext cx="7094520" cy="76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5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Integra </a:t>
            </a:r>
            <a:r>
              <a:rPr lang="en-US" sz="1950" b="1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full-stack </a:t>
            </a:r>
            <a:r>
              <a:rPr lang="en-US" sz="195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, IA aplicada con control de coste y un agente supervisado.</a:t>
            </a:r>
            <a:endParaRPr lang="es-E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8"/>
          <p:cNvSpPr/>
          <p:nvPr/>
        </p:nvSpPr>
        <p:spPr>
          <a:xfrm>
            <a:off x="1047600" y="3975480"/>
            <a:ext cx="7981560" cy="1317600"/>
          </a:xfrm>
          <a:prstGeom prst="roundRect">
            <a:avLst>
              <a:gd name="adj" fmla="val 10117"/>
            </a:avLst>
          </a:prstGeom>
          <a:solidFill>
            <a:srgbClr val="161F36"/>
          </a:solidFill>
          <a:ln w="9525">
            <a:solidFill>
              <a:srgbClr val="2632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9"/>
          <p:cNvSpPr/>
          <p:nvPr/>
        </p:nvSpPr>
        <p:spPr>
          <a:xfrm>
            <a:off x="1362240" y="4308840"/>
            <a:ext cx="3502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7E9BFF"/>
                </a:solidFill>
                <a:effectLst/>
                <a:uFillTx/>
                <a:latin typeface="Courier New"/>
                <a:ea typeface="Courier New"/>
              </a:rPr>
              <a:t>03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0"/>
          <p:cNvSpPr/>
          <p:nvPr/>
        </p:nvSpPr>
        <p:spPr>
          <a:xfrm>
            <a:off x="1827000" y="4270680"/>
            <a:ext cx="7094520" cy="76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5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Decisiones de </a:t>
            </a:r>
            <a:r>
              <a:rPr lang="en-US" sz="1950" b="1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seguridad y privacidad (RGPD) </a:t>
            </a:r>
            <a:r>
              <a:rPr lang="en-US" sz="195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aplicadas de principio a fin.</a:t>
            </a:r>
            <a:endParaRPr lang="es-E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1"/>
          <p:cNvSpPr/>
          <p:nvPr/>
        </p:nvSpPr>
        <p:spPr>
          <a:xfrm>
            <a:off x="9258480" y="3975480"/>
            <a:ext cx="7981560" cy="1317600"/>
          </a:xfrm>
          <a:prstGeom prst="roundRect">
            <a:avLst>
              <a:gd name="adj" fmla="val 10117"/>
            </a:avLst>
          </a:prstGeom>
          <a:solidFill>
            <a:srgbClr val="161F36"/>
          </a:solidFill>
          <a:ln w="9525">
            <a:solidFill>
              <a:srgbClr val="2632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2"/>
          <p:cNvSpPr/>
          <p:nvPr/>
        </p:nvSpPr>
        <p:spPr>
          <a:xfrm>
            <a:off x="9572760" y="4308840"/>
            <a:ext cx="3502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7E9BFF"/>
                </a:solidFill>
                <a:effectLst/>
                <a:uFillTx/>
                <a:latin typeface="Courier New"/>
                <a:ea typeface="Courier New"/>
              </a:rPr>
              <a:t>04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3"/>
          <p:cNvSpPr/>
          <p:nvPr/>
        </p:nvSpPr>
        <p:spPr>
          <a:xfrm>
            <a:off x="10037520" y="4270680"/>
            <a:ext cx="7094520" cy="76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 fontScale="85000" lnSpcReduction="9999"/>
          </a:bodyPr>
          <a:p>
            <a:pPr defTabSz="914400">
              <a:lnSpc>
                <a:spcPct val="145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Próximos pasos: </a:t>
            </a:r>
            <a:r>
              <a:rPr lang="en-US" sz="1950" b="0" u="none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más fuentes de ofertas y métricas de uso del agente.</a:t>
            </a:r>
            <a:endParaRPr lang="es-E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4"/>
          <p:cNvSpPr/>
          <p:nvPr/>
        </p:nvSpPr>
        <p:spPr>
          <a:xfrm>
            <a:off x="7560000" y="7920000"/>
            <a:ext cx="3600000" cy="14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pc="-145" strike="noStrike">
                <a:solidFill>
                  <a:srgbClr val="EAF0FF"/>
                </a:solidFill>
                <a:effectLst/>
                <a:uFillTx/>
                <a:latin typeface="Arial"/>
                <a:ea typeface="Arial"/>
              </a:rPr>
              <a:t>Gracias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LibreOffice/26.2.4.2$Windows_X86_64 LibreOffice_project/0229ac93fcf0d7cbc6376066c6f35021cef002dc</Application>
  <AppVersion>15.0000</AppVersion>
  <Words>0</Words>
  <Paragraphs>0</Paragraph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2026-06-22T17:45:37Z</dcterms:created>
  <dc:creator>Sergio García Sánchez</dc:creator>
  <dc:description/>
  <dc:language>es-ES</dc:language>
  <cp:lastModifiedBy>Sergio García Sánchez</cp:lastModifiedBy>
  <dcterms:modified xsi:type="dcterms:W3CDTF">2026-06-23T20:19:16Z</dcterms:modified>
  <cp:revision>2</cp:revision>
  <dc:subject>Plataforma de búsqueda de empleo con IA</dc:subject>
  <dc:title>JobMatch IA — Trabajo de Fin de Máster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